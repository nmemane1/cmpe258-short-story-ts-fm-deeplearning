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short story reviews a 2025 survey on time-series foundation models. I'll explain what these models are, how they're built, then reproduce the central claim myself, and end with an honest look at the benchmarking crisis. Roughly an 18-slide, 15-20 minute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images and audio all got their foundation-model moment years ago. Time series did not — for three concrete reasons: the data is scarce and fragmented, every dataset has a different shape, and classical methods were already very good. The 2024–25 breakthrough was realising these are engineering problems, not fundamental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foundation model is pre-trained once on broad data and reused across tasks. The survey maps 88 papers. The question driving this whole talk: can such a model forecast a series it never saw, zero-shot, and still beat models tuned to that series? I test exactly that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survey's central insight: you can reach a time-series foundation model from three starting points. Pathway 1 — pre-train from scratch on raw signals. Pathway 2 — reuse an existing LLM and teach it to read numbers. Pathway 3 — render the series as an image and feed a vision model. Most headline progress is Pathway 1, which the next slides focus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Pre-training from scratch decomposes into four challenges. One: build a corpus, since no time-series firehose exists — teams integrate every public dataset (LOTSA, Time Series Pile, Time-300B, even a trillion-point corpus) and synthesize more. Two: encoding. Three: architecture. Four: serve forecasting, imputation, classification and anomaly detection together. Almost every TSFM you've heard of is just one set of answers to these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Transformer eats tokens; a signal is floats. Three recurring answers: point-wise (one token per timestamp), patch-wise (short windows as tokens — the most popular), and quantization-wise, where Chronos bins scaled values into a vocabulary and literally treats forecasting as language modeling. A second choice: treat channels independently or let them 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 the branding and every TSFM is one of three Transformer shapes. Encoder-only (MOMENT, Moirai) — masked reconstruction, the BERT recipe, great for representations and multi-task. Decoder-only (TimesFM, Time-MoE, Lag-Llama, Timer) — autoregressive next-patch, the GPT recipe, dominates forecasting. Encoder-decoder (Chronos, TimeGPT) — sequence-to-sequence; Chronos reuses T5. Remember: decoder-only for forecasting, encoder-only for multi-task.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pace of 2024–25 is hard to overstate. Parameter counts jumped from 67 million to 2.4 billion in under a year. Every major vendor shipped a model. But the survey's quiet counter-point: bigger is not automatically better — IBM's Tiny Time Mixers, around a million parameters, competes, and lightweight design is a first-class research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compact reference. Note the spread: Google's TimesFM at 200 million parameters, Amazon's Chronos at 710 million reusing T5, Salesforce's Moirai trained on the 27-billion-point LOTSA corpus, and Time-MoE at 2.4 billion parameters on a 300-billion-point corpus. Decoder-only for forecasting, encoder-only for multi-task — the table makes the pattern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Pathway 2: language models. The crude LLMTime just writes numbers as digit strings. Time-LLM keeps the LLM frozen and reprograms the series through cross-attention. GPT4TS freezes most of GPT-2. The theme is parameter-efficient tuning. Pathway 3: vision. Render the series as a picture and let a vision model inpaint the future — VisionTS does exactly this with a masked autoencoder trained only on natural images. I think the vision route is underrated.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my own experiment. I used Chronos — the bolt-small model, 48 million parameters — never calling fit, pure zero-shot. I forecast the held-out tail of four classic public datasets the model never saw, against three classical baselines each fit individually to its target series. The baselines get an unfair advantage; the foundation model gets nothing. Headline metric is MASE — below 1 beats seasonal naive.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Seasonal Naive averaged a MASE of 1.66. Exponential Smoothing, fit per series, averaged 1.04. Chronos, zero-shot, averaged 0.92 — and won outright on two of four datasets. A 48-million-parameter model that did zero training on these series beat models tuned to each one, in a second of CPU inference. The hypothesis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clearest win. On monthly sunspots over a long 60-step horizon, the classical models simply reverted to a flat mean. Chronos — drawing on broad temporal patterns absorbed during pre-training — anticipated the shape of the declining solar cycle. And the shaded band is its 80% prediction interval: it tells you how confident it is,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honest read. The skill score shows the zero-shot model winning on three of four datasets. But it is not magic: on the daily-temperature series — short horizon, near-stationary — the dumb Naive forecast won. Foundation models shine on long horizons and rich structure, and add little where a one-line heuristic already nails it. A good review says that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catch. If a model is pre-trained on every public dataset, how do you know the benchmark wasn't in the training data? That's test-set contamination — the same crisis that haunts LLM evaluation. The Meyer 2025 survey found only 7% of datasets were never used for training by some model. A controlled study showed just 0.1% deliberate leakage flattered Moirai by up to 32 MAPE points — and larger models memorized more, not less. Leaked datasets showed 47 to 184% better scores versus under 14% on clean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two cents. One: the zero-shot result is real — I was skeptical and was wrong; a TSFM is now a strong one-line default baseline. Two: the field's headline numbers are softer than they look — accuracy is solved enough, evaluation is not. Three: the vision pathway is underrated. Four: the real frontier is trust, not scale — a model you can audit, not a bigger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survey gives us the map: three pathways, four challenges, three architectures, a hundred models. My reproduction gives the proof: zero-shot really works. And the 2025 benchmarking survey gives the cold shower: the open problem is trustworthy evaluation. Pre-train once, predict anything has finally reached time series — the work that remains is making sure we can believe the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links. The primary paper reviewed is the Ye et al. 2025 survey, supported by two further 2025 surveys. All code, the executed notebook, the article, these slides and the video are in the GitHub repository shown.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FB5A8"/>
          </a:solidFill>
          <a:ln/>
        </p:spPr>
      </p:sp>
      <p:sp>
        <p:nvSpPr>
          <p:cNvPr id="3" name="Text 1"/>
          <p:cNvSpPr/>
          <p:nvPr/>
        </p:nvSpPr>
        <p:spPr>
          <a:xfrm>
            <a:off x="914400" y="1051560"/>
            <a:ext cx="10058400" cy="365760"/>
          </a:xfrm>
          <a:prstGeom prst="rect">
            <a:avLst/>
          </a:prstGeom>
          <a:noFill/>
          <a:ln/>
        </p:spPr>
        <p:txBody>
          <a:bodyPr wrap="square" lIns="0" tIns="0" rIns="0" bIns="0" rtlCol="0" anchor="ctr"/>
          <a:lstStyle/>
          <a:p>
            <a:pPr indent="0" marL="0">
              <a:buNone/>
            </a:pPr>
            <a:r>
              <a:rPr lang="en-US" sz="1400" b="1" spc="300" kern="0" dirty="0">
                <a:solidFill>
                  <a:srgbClr val="0FB5A8"/>
                </a:solidFill>
                <a:latin typeface="Calibri" pitchFamily="34" charset="0"/>
                <a:ea typeface="Calibri" pitchFamily="34" charset="-122"/>
                <a:cs typeface="Calibri" pitchFamily="34" charset="-120"/>
              </a:rPr>
              <a:t>CMPE 258  ·  DEEP LEARNING  ·  SHORT STORY</a:t>
            </a:r>
            <a:endParaRPr lang="en-US" sz="1400" dirty="0"/>
          </a:p>
        </p:txBody>
      </p:sp>
      <p:sp>
        <p:nvSpPr>
          <p:cNvPr id="4" name="Text 2"/>
          <p:cNvSpPr/>
          <p:nvPr/>
        </p:nvSpPr>
        <p:spPr>
          <a:xfrm>
            <a:off x="914400" y="1554480"/>
            <a:ext cx="10607040" cy="1280160"/>
          </a:xfrm>
          <a:prstGeom prst="rect">
            <a:avLst/>
          </a:prstGeom>
          <a:noFill/>
          <a:ln/>
        </p:spPr>
        <p:txBody>
          <a:bodyPr wrap="square" lIns="0" tIns="0" rIns="0" bIns="0" rtlCol="0" anchor="ctr"/>
          <a:lstStyle/>
          <a:p>
            <a:pPr indent="0" marL="0">
              <a:buNone/>
            </a:pPr>
            <a:r>
              <a:rPr lang="en-US" sz="5000" b="1" dirty="0">
                <a:solidFill>
                  <a:srgbClr val="FFFFFF"/>
                </a:solidFill>
                <a:latin typeface="Georgia" pitchFamily="34" charset="0"/>
                <a:ea typeface="Georgia" pitchFamily="34" charset="-122"/>
                <a:cs typeface="Georgia" pitchFamily="34" charset="-120"/>
              </a:rPr>
              <a:t>One Model to Forecast Them All</a:t>
            </a:r>
            <a:endParaRPr lang="en-US" sz="5000" dirty="0"/>
          </a:p>
        </p:txBody>
      </p:sp>
      <p:sp>
        <p:nvSpPr>
          <p:cNvPr id="5" name="Text 3"/>
          <p:cNvSpPr/>
          <p:nvPr/>
        </p:nvSpPr>
        <p:spPr>
          <a:xfrm>
            <a:off x="914400" y="2788920"/>
            <a:ext cx="10607040" cy="640080"/>
          </a:xfrm>
          <a:prstGeom prst="rect">
            <a:avLst/>
          </a:prstGeom>
          <a:noFill/>
          <a:ln/>
        </p:spPr>
        <p:txBody>
          <a:bodyPr wrap="square" lIns="0" tIns="0" rIns="0" bIns="0" rtlCol="0" anchor="ctr"/>
          <a:lstStyle/>
          <a:p>
            <a:pPr indent="0" marL="0">
              <a:buNone/>
            </a:pPr>
            <a:r>
              <a:rPr lang="en-US" sz="2700" i="1" dirty="0">
                <a:solidFill>
                  <a:srgbClr val="CADCFC"/>
                </a:solidFill>
                <a:latin typeface="Georgia" pitchFamily="34" charset="0"/>
                <a:ea typeface="Georgia" pitchFamily="34" charset="-122"/>
                <a:cs typeface="Georgia" pitchFamily="34" charset="-120"/>
              </a:rPr>
              <a:t>The Rise of Time-Series Foundation Models</a:t>
            </a:r>
            <a:endParaRPr lang="en-US" sz="2700" dirty="0"/>
          </a:p>
        </p:txBody>
      </p:sp>
      <p:sp>
        <p:nvSpPr>
          <p:cNvPr id="6" name="Text 4"/>
          <p:cNvSpPr/>
          <p:nvPr/>
        </p:nvSpPr>
        <p:spPr>
          <a:xfrm>
            <a:off x="914400" y="3794760"/>
            <a:ext cx="10424160" cy="457200"/>
          </a:xfrm>
          <a:prstGeom prst="rect">
            <a:avLst/>
          </a:prstGeom>
          <a:noFill/>
          <a:ln/>
        </p:spPr>
        <p:txBody>
          <a:bodyPr wrap="square" lIns="0" tIns="0" rIns="0" bIns="0" rtlCol="0" anchor="ctr"/>
          <a:lstStyle/>
          <a:p>
            <a:pPr indent="0" marL="0">
              <a:buNone/>
            </a:pPr>
            <a:r>
              <a:rPr lang="en-US" sz="1500" dirty="0">
                <a:solidFill>
                  <a:srgbClr val="9DB2C9"/>
                </a:solidFill>
                <a:latin typeface="Calibri" pitchFamily="34" charset="0"/>
                <a:ea typeface="Calibri" pitchFamily="34" charset="-122"/>
                <a:cs typeface="Calibri" pitchFamily="34" charset="-120"/>
              </a:rPr>
              <a:t>A review of  </a:t>
            </a:r>
            <a:pPr indent="0" marL="0">
              <a:buNone/>
            </a:pPr>
            <a:r>
              <a:rPr lang="en-US" sz="1500" b="1" dirty="0">
                <a:solidFill>
                  <a:srgbClr val="FFFFFF"/>
                </a:solidFill>
                <a:latin typeface="Calibri" pitchFamily="34" charset="0"/>
                <a:ea typeface="Calibri" pitchFamily="34" charset="-122"/>
                <a:cs typeface="Calibri" pitchFamily="34" charset="-120"/>
              </a:rPr>
              <a:t>“Empowering Time Series Analysis with Foundation Models: A Comprehensive Survey”</a:t>
            </a:r>
            <a:endParaRPr lang="en-US" sz="1500" dirty="0"/>
          </a:p>
        </p:txBody>
      </p:sp>
      <p:sp>
        <p:nvSpPr>
          <p:cNvPr id="7" name="Text 5"/>
          <p:cNvSpPr/>
          <p:nvPr/>
        </p:nvSpPr>
        <p:spPr>
          <a:xfrm>
            <a:off x="914400" y="4160520"/>
            <a:ext cx="10424160" cy="365760"/>
          </a:xfrm>
          <a:prstGeom prst="rect">
            <a:avLst/>
          </a:prstGeom>
          <a:noFill/>
          <a:ln/>
        </p:spPr>
        <p:txBody>
          <a:bodyPr wrap="square" lIns="0" tIns="0" rIns="0" bIns="0" rtlCol="0" anchor="ctr"/>
          <a:lstStyle/>
          <a:p>
            <a:pPr indent="0" marL="0">
              <a:buNone/>
            </a:pPr>
            <a:r>
              <a:rPr lang="en-US" sz="1300" dirty="0">
                <a:solidFill>
                  <a:srgbClr val="9DB2C9"/>
                </a:solidFill>
                <a:latin typeface="Calibri" pitchFamily="34" charset="0"/>
                <a:ea typeface="Calibri" pitchFamily="34" charset="-122"/>
                <a:cs typeface="Calibri" pitchFamily="34" charset="-120"/>
              </a:rPr>
              <a:t>Ye, Yu, Zhang, Wang, Li &amp; Tsung  —  arXiv:2405.02358v3 (2025)</a:t>
            </a:r>
            <a:endParaRPr lang="en-US" sz="1300" dirty="0"/>
          </a:p>
        </p:txBody>
      </p:sp>
      <p:sp>
        <p:nvSpPr>
          <p:cNvPr id="8" name="Shape 6"/>
          <p:cNvSpPr/>
          <p:nvPr/>
        </p:nvSpPr>
        <p:spPr>
          <a:xfrm>
            <a:off x="914400" y="4983480"/>
            <a:ext cx="3657600" cy="0"/>
          </a:xfrm>
          <a:prstGeom prst="line">
            <a:avLst/>
          </a:prstGeom>
          <a:noFill/>
          <a:ln w="19050">
            <a:solidFill>
              <a:srgbClr val="0FB5A8"/>
            </a:solidFill>
            <a:prstDash val="solid"/>
          </a:ln>
        </p:spPr>
      </p:sp>
      <p:sp>
        <p:nvSpPr>
          <p:cNvPr id="9" name="Text 7"/>
          <p:cNvSpPr/>
          <p:nvPr/>
        </p:nvSpPr>
        <p:spPr>
          <a:xfrm>
            <a:off x="914400" y="5120640"/>
            <a:ext cx="100584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Nikita Memane   ·   San José State University</a:t>
            </a:r>
            <a:endParaRPr lang="en-US" sz="1500" dirty="0"/>
          </a:p>
        </p:txBody>
      </p:sp>
      <p:sp>
        <p:nvSpPr>
          <p:cNvPr id="10" name="Text 8"/>
          <p:cNvSpPr/>
          <p:nvPr/>
        </p:nvSpPr>
        <p:spPr>
          <a:xfrm>
            <a:off x="914400" y="5532120"/>
            <a:ext cx="10241280" cy="457200"/>
          </a:xfrm>
          <a:prstGeom prst="rect">
            <a:avLst/>
          </a:prstGeom>
          <a:noFill/>
          <a:ln/>
        </p:spPr>
        <p:txBody>
          <a:bodyPr wrap="square" lIns="0" tIns="0" rIns="0" bIns="0" rtlCol="0" anchor="ctr"/>
          <a:lstStyle/>
          <a:p>
            <a:pPr indent="0" marL="0">
              <a:buNone/>
            </a:pPr>
            <a:r>
              <a:rPr lang="en-US" sz="1300" i="1" dirty="0">
                <a:solidFill>
                  <a:srgbClr val="9DB2C9"/>
                </a:solidFill>
                <a:latin typeface="Calibri" pitchFamily="34" charset="0"/>
                <a:ea typeface="Calibri" pitchFamily="34" charset="-122"/>
                <a:cs typeface="Calibri" pitchFamily="34" charset="-120"/>
              </a:rPr>
              <a:t>Plus a hands-on reproduction of the survey's core claim — and why 2025's benchmarks can't be fully trusted.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02920" y="457200"/>
            <a:ext cx="201168" cy="201168"/>
          </a:xfrm>
          <a:prstGeom prst="rect">
            <a:avLst/>
          </a:prstGeom>
          <a:solidFill>
            <a:srgbClr val="0FB5A8"/>
          </a:solidFill>
          <a:ln/>
        </p:spPr>
      </p:sp>
      <p:sp>
        <p:nvSpPr>
          <p:cNvPr id="3" name="Text 1"/>
          <p:cNvSpPr/>
          <p:nvPr/>
        </p:nvSpPr>
        <p:spPr>
          <a:xfrm>
            <a:off x="822960" y="365760"/>
            <a:ext cx="10789920" cy="292608"/>
          </a:xfrm>
          <a:prstGeom prst="rect">
            <a:avLst/>
          </a:prstGeom>
          <a:noFill/>
          <a:ln/>
        </p:spPr>
        <p:txBody>
          <a:bodyPr wrap="square" lIns="0" tIns="0" rIns="0" bIns="0" rtlCol="0" anchor="ctr"/>
          <a:lstStyle/>
          <a:p>
            <a:pPr indent="0" marL="0">
              <a:buNone/>
            </a:pPr>
            <a:r>
              <a:rPr lang="en-US" sz="1200" b="1" spc="300" kern="0" dirty="0">
                <a:solidFill>
                  <a:srgbClr val="0FB5A8"/>
                </a:solidFill>
                <a:latin typeface="Calibri" pitchFamily="34" charset="0"/>
                <a:ea typeface="Calibri" pitchFamily="34" charset="-122"/>
                <a:cs typeface="Calibri" pitchFamily="34" charset="-120"/>
              </a:rPr>
              <a:t>MOTIVATION</a:t>
            </a:r>
            <a:endParaRPr lang="en-US" sz="1200" dirty="0"/>
          </a:p>
        </p:txBody>
      </p:sp>
      <p:sp>
        <p:nvSpPr>
          <p:cNvPr id="4" name="Text 2"/>
          <p:cNvSpPr/>
          <p:nvPr/>
        </p:nvSpPr>
        <p:spPr>
          <a:xfrm>
            <a:off x="777240" y="603504"/>
            <a:ext cx="10881360" cy="777240"/>
          </a:xfrm>
          <a:prstGeom prst="rect">
            <a:avLst/>
          </a:prstGeom>
          <a:noFill/>
          <a:ln/>
        </p:spPr>
        <p:txBody>
          <a:bodyPr wrap="square" lIns="0" tIns="0" rIns="0" bIns="0" rtlCol="0" anchor="ctr"/>
          <a:lstStyle/>
          <a:p>
            <a:pPr indent="0" marL="0">
              <a:buNone/>
            </a:pPr>
            <a:r>
              <a:rPr lang="en-US" sz="3000" b="1" dirty="0">
                <a:solidFill>
                  <a:srgbClr val="0B2545"/>
                </a:solidFill>
                <a:latin typeface="Georgia" pitchFamily="34" charset="0"/>
                <a:ea typeface="Georgia" pitchFamily="34" charset="-122"/>
                <a:cs typeface="Georgia" pitchFamily="34" charset="-120"/>
              </a:rPr>
              <a:t>Time series was the last modality to get a foundation model</a:t>
            </a:r>
            <a:endParaRPr lang="en-US" sz="3000" dirty="0"/>
          </a:p>
        </p:txBody>
      </p:sp>
      <p:sp>
        <p:nvSpPr>
          <p:cNvPr id="5" name="Text 3"/>
          <p:cNvSpPr/>
          <p:nvPr/>
        </p:nvSpPr>
        <p:spPr>
          <a:xfrm>
            <a:off x="502920" y="6437376"/>
            <a:ext cx="7315200" cy="274320"/>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Time-Series Foundation Models  ·  CMPE 258 Short Story</a:t>
            </a:r>
            <a:endParaRPr lang="en-US" sz="900" dirty="0"/>
          </a:p>
        </p:txBody>
      </p:sp>
      <p:sp>
        <p:nvSpPr>
          <p:cNvPr id="6" name="Text 4"/>
          <p:cNvSpPr/>
          <p:nvPr/>
        </p:nvSpPr>
        <p:spPr>
          <a:xfrm>
            <a:off x="11338560" y="6437376"/>
            <a:ext cx="365760" cy="274320"/>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a:t>
            </a:r>
            <a:endParaRPr lang="en-US" sz="900" dirty="0"/>
          </a:p>
        </p:txBody>
      </p:sp>
      <p:sp>
        <p:nvSpPr>
          <p:cNvPr id="7" name="Shape 5"/>
          <p:cNvSpPr/>
          <p:nvPr/>
        </p:nvSpPr>
        <p:spPr>
          <a:xfrm>
            <a:off x="777240" y="1554480"/>
            <a:ext cx="2560320" cy="1234440"/>
          </a:xfrm>
          <a:prstGeom prst="roundRect">
            <a:avLst>
              <a:gd name="adj" fmla="val 4444"/>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8" name="Text 6"/>
          <p:cNvSpPr/>
          <p:nvPr/>
        </p:nvSpPr>
        <p:spPr>
          <a:xfrm>
            <a:off x="960120" y="1691640"/>
            <a:ext cx="2194560" cy="411480"/>
          </a:xfrm>
          <a:prstGeom prst="rect">
            <a:avLst/>
          </a:prstGeom>
          <a:noFill/>
          <a:ln/>
        </p:spPr>
        <p:txBody>
          <a:bodyPr wrap="square" lIns="0" tIns="0" rIns="0" bIns="0" rtlCol="0" anchor="ctr"/>
          <a:lstStyle/>
          <a:p>
            <a:pPr indent="0" marL="0">
              <a:buNone/>
            </a:pPr>
            <a:r>
              <a:rPr lang="en-US" sz="1900" b="1" dirty="0">
                <a:solidFill>
                  <a:srgbClr val="0B2545"/>
                </a:solidFill>
                <a:latin typeface="Georgia" pitchFamily="34" charset="0"/>
                <a:ea typeface="Georgia" pitchFamily="34" charset="-122"/>
                <a:cs typeface="Georgia" pitchFamily="34" charset="-120"/>
              </a:rPr>
              <a:t>Text</a:t>
            </a:r>
            <a:endParaRPr lang="en-US" sz="1900" dirty="0"/>
          </a:p>
        </p:txBody>
      </p:sp>
      <p:sp>
        <p:nvSpPr>
          <p:cNvPr id="9" name="Text 7"/>
          <p:cNvSpPr/>
          <p:nvPr/>
        </p:nvSpPr>
        <p:spPr>
          <a:xfrm>
            <a:off x="960120" y="2148840"/>
            <a:ext cx="2194560" cy="411480"/>
          </a:xfrm>
          <a:prstGeom prst="rect">
            <a:avLst/>
          </a:prstGeom>
          <a:noFill/>
          <a:ln/>
        </p:spPr>
        <p:txBody>
          <a:bodyPr wrap="square" lIns="0" tIns="0" rIns="0" bIns="0" rtlCol="0" anchor="ctr"/>
          <a:lstStyle/>
          <a:p>
            <a:pPr indent="0" marL="0">
              <a:buNone/>
            </a:pPr>
            <a:r>
              <a:rPr lang="en-US" sz="1300" dirty="0">
                <a:solidFill>
                  <a:srgbClr val="5A6B7B"/>
                </a:solidFill>
                <a:latin typeface="Calibri" pitchFamily="34" charset="0"/>
                <a:ea typeface="Calibri" pitchFamily="34" charset="-122"/>
                <a:cs typeface="Calibri" pitchFamily="34" charset="-120"/>
              </a:rPr>
              <a:t>GPT, Llama</a:t>
            </a:r>
            <a:endParaRPr lang="en-US" sz="1300" dirty="0"/>
          </a:p>
        </p:txBody>
      </p:sp>
      <p:sp>
        <p:nvSpPr>
          <p:cNvPr id="10" name="Shape 8"/>
          <p:cNvSpPr/>
          <p:nvPr/>
        </p:nvSpPr>
        <p:spPr>
          <a:xfrm>
            <a:off x="3566160" y="1554480"/>
            <a:ext cx="2560320" cy="1234440"/>
          </a:xfrm>
          <a:prstGeom prst="roundRect">
            <a:avLst>
              <a:gd name="adj" fmla="val 4444"/>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11" name="Text 9"/>
          <p:cNvSpPr/>
          <p:nvPr/>
        </p:nvSpPr>
        <p:spPr>
          <a:xfrm>
            <a:off x="3749040" y="1691640"/>
            <a:ext cx="2194560" cy="411480"/>
          </a:xfrm>
          <a:prstGeom prst="rect">
            <a:avLst/>
          </a:prstGeom>
          <a:noFill/>
          <a:ln/>
        </p:spPr>
        <p:txBody>
          <a:bodyPr wrap="square" lIns="0" tIns="0" rIns="0" bIns="0" rtlCol="0" anchor="ctr"/>
          <a:lstStyle/>
          <a:p>
            <a:pPr indent="0" marL="0">
              <a:buNone/>
            </a:pPr>
            <a:r>
              <a:rPr lang="en-US" sz="1900" b="1" dirty="0">
                <a:solidFill>
                  <a:srgbClr val="0B2545"/>
                </a:solidFill>
                <a:latin typeface="Georgia" pitchFamily="34" charset="0"/>
                <a:ea typeface="Georgia" pitchFamily="34" charset="-122"/>
                <a:cs typeface="Georgia" pitchFamily="34" charset="-120"/>
              </a:rPr>
              <a:t>Images</a:t>
            </a:r>
            <a:endParaRPr lang="en-US" sz="1900" dirty="0"/>
          </a:p>
        </p:txBody>
      </p:sp>
      <p:sp>
        <p:nvSpPr>
          <p:cNvPr id="12" name="Text 10"/>
          <p:cNvSpPr/>
          <p:nvPr/>
        </p:nvSpPr>
        <p:spPr>
          <a:xfrm>
            <a:off x="3749040" y="2148840"/>
            <a:ext cx="2194560" cy="411480"/>
          </a:xfrm>
          <a:prstGeom prst="rect">
            <a:avLst/>
          </a:prstGeom>
          <a:noFill/>
          <a:ln/>
        </p:spPr>
        <p:txBody>
          <a:bodyPr wrap="square" lIns="0" tIns="0" rIns="0" bIns="0" rtlCol="0" anchor="ctr"/>
          <a:lstStyle/>
          <a:p>
            <a:pPr indent="0" marL="0">
              <a:buNone/>
            </a:pPr>
            <a:r>
              <a:rPr lang="en-US" sz="1300" dirty="0">
                <a:solidFill>
                  <a:srgbClr val="5A6B7B"/>
                </a:solidFill>
                <a:latin typeface="Calibri" pitchFamily="34" charset="0"/>
                <a:ea typeface="Calibri" pitchFamily="34" charset="-122"/>
                <a:cs typeface="Calibri" pitchFamily="34" charset="-120"/>
              </a:rPr>
              <a:t>CLIP, SAM</a:t>
            </a:r>
            <a:endParaRPr lang="en-US" sz="1300" dirty="0"/>
          </a:p>
        </p:txBody>
      </p:sp>
      <p:sp>
        <p:nvSpPr>
          <p:cNvPr id="13" name="Shape 11"/>
          <p:cNvSpPr/>
          <p:nvPr/>
        </p:nvSpPr>
        <p:spPr>
          <a:xfrm>
            <a:off x="6355080" y="1554480"/>
            <a:ext cx="2560320" cy="1234440"/>
          </a:xfrm>
          <a:prstGeom prst="roundRect">
            <a:avLst>
              <a:gd name="adj" fmla="val 4444"/>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14" name="Text 12"/>
          <p:cNvSpPr/>
          <p:nvPr/>
        </p:nvSpPr>
        <p:spPr>
          <a:xfrm>
            <a:off x="6537960" y="1691640"/>
            <a:ext cx="2194560" cy="411480"/>
          </a:xfrm>
          <a:prstGeom prst="rect">
            <a:avLst/>
          </a:prstGeom>
          <a:noFill/>
          <a:ln/>
        </p:spPr>
        <p:txBody>
          <a:bodyPr wrap="square" lIns="0" tIns="0" rIns="0" bIns="0" rtlCol="0" anchor="ctr"/>
          <a:lstStyle/>
          <a:p>
            <a:pPr indent="0" marL="0">
              <a:buNone/>
            </a:pPr>
            <a:r>
              <a:rPr lang="en-US" sz="1900" b="1" dirty="0">
                <a:solidFill>
                  <a:srgbClr val="0B2545"/>
                </a:solidFill>
                <a:latin typeface="Georgia" pitchFamily="34" charset="0"/>
                <a:ea typeface="Georgia" pitchFamily="34" charset="-122"/>
                <a:cs typeface="Georgia" pitchFamily="34" charset="-120"/>
              </a:rPr>
              <a:t>Audio</a:t>
            </a:r>
            <a:endParaRPr lang="en-US" sz="1900" dirty="0"/>
          </a:p>
        </p:txBody>
      </p:sp>
      <p:sp>
        <p:nvSpPr>
          <p:cNvPr id="15" name="Text 13"/>
          <p:cNvSpPr/>
          <p:nvPr/>
        </p:nvSpPr>
        <p:spPr>
          <a:xfrm>
            <a:off x="6537960" y="2148840"/>
            <a:ext cx="2194560" cy="411480"/>
          </a:xfrm>
          <a:prstGeom prst="rect">
            <a:avLst/>
          </a:prstGeom>
          <a:noFill/>
          <a:ln/>
        </p:spPr>
        <p:txBody>
          <a:bodyPr wrap="square" lIns="0" tIns="0" rIns="0" bIns="0" rtlCol="0" anchor="ctr"/>
          <a:lstStyle/>
          <a:p>
            <a:pPr indent="0" marL="0">
              <a:buNone/>
            </a:pPr>
            <a:r>
              <a:rPr lang="en-US" sz="1300" dirty="0">
                <a:solidFill>
                  <a:srgbClr val="5A6B7B"/>
                </a:solidFill>
                <a:latin typeface="Calibri" pitchFamily="34" charset="0"/>
                <a:ea typeface="Calibri" pitchFamily="34" charset="-122"/>
                <a:cs typeface="Calibri" pitchFamily="34" charset="-120"/>
              </a:rPr>
              <a:t>Whisper</a:t>
            </a:r>
            <a:endParaRPr lang="en-US" sz="1300" dirty="0"/>
          </a:p>
        </p:txBody>
      </p:sp>
      <p:sp>
        <p:nvSpPr>
          <p:cNvPr id="16" name="Shape 14"/>
          <p:cNvSpPr/>
          <p:nvPr/>
        </p:nvSpPr>
        <p:spPr>
          <a:xfrm>
            <a:off x="9144000" y="1554480"/>
            <a:ext cx="2560320" cy="1234440"/>
          </a:xfrm>
          <a:prstGeom prst="roundRect">
            <a:avLst>
              <a:gd name="adj" fmla="val 4444"/>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17" name="Text 15"/>
          <p:cNvSpPr/>
          <p:nvPr/>
        </p:nvSpPr>
        <p:spPr>
          <a:xfrm>
            <a:off x="9326880" y="1691640"/>
            <a:ext cx="2194560" cy="411480"/>
          </a:xfrm>
          <a:prstGeom prst="rect">
            <a:avLst/>
          </a:prstGeom>
          <a:noFill/>
          <a:ln/>
        </p:spPr>
        <p:txBody>
          <a:bodyPr wrap="square" lIns="0" tIns="0" rIns="0" bIns="0" rtlCol="0" anchor="ctr"/>
          <a:lstStyle/>
          <a:p>
            <a:pPr indent="0" marL="0">
              <a:buNone/>
            </a:pPr>
            <a:r>
              <a:rPr lang="en-US" sz="1900" b="1" dirty="0">
                <a:solidFill>
                  <a:srgbClr val="0B2545"/>
                </a:solidFill>
                <a:latin typeface="Georgia" pitchFamily="34" charset="0"/>
                <a:ea typeface="Georgia" pitchFamily="34" charset="-122"/>
                <a:cs typeface="Georgia" pitchFamily="34" charset="-120"/>
              </a:rPr>
              <a:t>Time series</a:t>
            </a:r>
            <a:endParaRPr lang="en-US" sz="1900" dirty="0"/>
          </a:p>
        </p:txBody>
      </p:sp>
      <p:sp>
        <p:nvSpPr>
          <p:cNvPr id="18" name="Text 16"/>
          <p:cNvSpPr/>
          <p:nvPr/>
        </p:nvSpPr>
        <p:spPr>
          <a:xfrm>
            <a:off x="9326880" y="2148840"/>
            <a:ext cx="2194560" cy="411480"/>
          </a:xfrm>
          <a:prstGeom prst="rect">
            <a:avLst/>
          </a:prstGeom>
          <a:noFill/>
          <a:ln/>
        </p:spPr>
        <p:txBody>
          <a:bodyPr wrap="square" lIns="0" tIns="0" rIns="0" bIns="0" rtlCol="0" anchor="ctr"/>
          <a:lstStyle/>
          <a:p>
            <a:pPr indent="0" marL="0">
              <a:buNone/>
            </a:pPr>
            <a:r>
              <a:rPr lang="en-US" sz="1300" b="1" dirty="0">
                <a:solidFill>
                  <a:srgbClr val="EF6F6C"/>
                </a:solidFill>
                <a:latin typeface="Calibri" pitchFamily="34" charset="0"/>
                <a:ea typeface="Calibri" pitchFamily="34" charset="-122"/>
                <a:cs typeface="Calibri" pitchFamily="34" charset="-120"/>
              </a:rPr>
              <a:t>??? until 2024</a:t>
            </a:r>
            <a:endParaRPr lang="en-US" sz="1300" dirty="0"/>
          </a:p>
        </p:txBody>
      </p:sp>
      <p:sp>
        <p:nvSpPr>
          <p:cNvPr id="19" name="Text 17"/>
          <p:cNvSpPr/>
          <p:nvPr/>
        </p:nvSpPr>
        <p:spPr>
          <a:xfrm>
            <a:off x="777240" y="3063240"/>
            <a:ext cx="1060704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Why time series resisted the “pre-train once, reuse everywhere” recipe:</a:t>
            </a:r>
            <a:endParaRPr lang="en-US" sz="1600" dirty="0"/>
          </a:p>
        </p:txBody>
      </p:sp>
      <p:sp>
        <p:nvSpPr>
          <p:cNvPr id="20" name="Shape 18"/>
          <p:cNvSpPr/>
          <p:nvPr/>
        </p:nvSpPr>
        <p:spPr>
          <a:xfrm>
            <a:off x="822960" y="3566160"/>
            <a:ext cx="457200" cy="457200"/>
          </a:xfrm>
          <a:prstGeom prst="ellipse">
            <a:avLst/>
          </a:prstGeom>
          <a:solidFill>
            <a:srgbClr val="0B2545"/>
          </a:solidFill>
          <a:ln/>
        </p:spPr>
      </p:sp>
      <p:sp>
        <p:nvSpPr>
          <p:cNvPr id="21" name="Text 19"/>
          <p:cNvSpPr/>
          <p:nvPr/>
        </p:nvSpPr>
        <p:spPr>
          <a:xfrm>
            <a:off x="822960" y="3566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22" name="Text 20"/>
          <p:cNvSpPr/>
          <p:nvPr/>
        </p:nvSpPr>
        <p:spPr>
          <a:xfrm>
            <a:off x="1463040" y="3520440"/>
            <a:ext cx="10058400" cy="56692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Data is scarce &amp; siloed  —  </a:t>
            </a:r>
            <a:pPr indent="0" marL="0">
              <a:buNone/>
            </a:pPr>
            <a:r>
              <a:rPr lang="en-US" sz="1400" dirty="0">
                <a:solidFill>
                  <a:srgbClr val="1B2A3A"/>
                </a:solidFill>
                <a:latin typeface="Calibri" pitchFamily="34" charset="0"/>
                <a:ea typeface="Calibri" pitchFamily="34" charset="-122"/>
                <a:cs typeface="Calibri" pitchFamily="34" charset="-120"/>
              </a:rPr>
              <a:t>No internet-scale firehose of signals. Useful series hide in private hospital, factory and bank silos.</a:t>
            </a:r>
            <a:endParaRPr lang="en-US" sz="1400" dirty="0"/>
          </a:p>
        </p:txBody>
      </p:sp>
      <p:sp>
        <p:nvSpPr>
          <p:cNvPr id="23" name="Shape 21"/>
          <p:cNvSpPr/>
          <p:nvPr/>
        </p:nvSpPr>
        <p:spPr>
          <a:xfrm>
            <a:off x="822960" y="4480560"/>
            <a:ext cx="457200" cy="457200"/>
          </a:xfrm>
          <a:prstGeom prst="ellipse">
            <a:avLst/>
          </a:prstGeom>
          <a:solidFill>
            <a:srgbClr val="0B2545"/>
          </a:solidFill>
          <a:ln/>
        </p:spPr>
      </p:sp>
      <p:sp>
        <p:nvSpPr>
          <p:cNvPr id="24" name="Text 22"/>
          <p:cNvSpPr/>
          <p:nvPr/>
        </p:nvSpPr>
        <p:spPr>
          <a:xfrm>
            <a:off x="822960" y="44805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25" name="Text 23"/>
          <p:cNvSpPr/>
          <p:nvPr/>
        </p:nvSpPr>
        <p:spPr>
          <a:xfrm>
            <a:off x="1463040" y="4434840"/>
            <a:ext cx="10058400" cy="56692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Every dataset has a different shape  —  </a:t>
            </a:r>
            <a:pPr indent="0" marL="0">
              <a:buNone/>
            </a:pPr>
            <a:r>
              <a:rPr lang="en-US" sz="1400" dirty="0">
                <a:solidFill>
                  <a:srgbClr val="1B2A3A"/>
                </a:solidFill>
                <a:latin typeface="Calibri" pitchFamily="34" charset="0"/>
                <a:ea typeface="Calibri" pitchFamily="34" charset="-122"/>
                <a:cs typeface="Calibri" pitchFamily="34" charset="-120"/>
              </a:rPr>
              <a:t>Different sampling rates, channel counts, and meanings — the survey calls it “semantic variability.”</a:t>
            </a:r>
            <a:endParaRPr lang="en-US" sz="1400" dirty="0"/>
          </a:p>
        </p:txBody>
      </p:sp>
      <p:sp>
        <p:nvSpPr>
          <p:cNvPr id="26" name="Shape 24"/>
          <p:cNvSpPr/>
          <p:nvPr/>
        </p:nvSpPr>
        <p:spPr>
          <a:xfrm>
            <a:off x="822960" y="5394960"/>
            <a:ext cx="457200" cy="457200"/>
          </a:xfrm>
          <a:prstGeom prst="ellipse">
            <a:avLst/>
          </a:prstGeom>
          <a:solidFill>
            <a:srgbClr val="0B2545"/>
          </a:solidFill>
          <a:ln/>
        </p:spPr>
      </p:sp>
      <p:sp>
        <p:nvSpPr>
          <p:cNvPr id="27" name="Text 25"/>
          <p:cNvSpPr/>
          <p:nvPr/>
        </p:nvSpPr>
        <p:spPr>
          <a:xfrm>
            <a:off x="822960" y="5394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8" name="Text 26"/>
          <p:cNvSpPr/>
          <p:nvPr/>
        </p:nvSpPr>
        <p:spPr>
          <a:xfrm>
            <a:off x="1463040" y="5349240"/>
            <a:ext cx="10058400" cy="56692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Classical methods were already strong  —  </a:t>
            </a:r>
            <a:pPr indent="0" marL="0">
              <a:buNone/>
            </a:pPr>
            <a:r>
              <a:rPr lang="en-US" sz="1400" dirty="0">
                <a:solidFill>
                  <a:srgbClr val="1B2A3A"/>
                </a:solidFill>
                <a:latin typeface="Calibri" pitchFamily="34" charset="0"/>
                <a:ea typeface="Calibri" pitchFamily="34" charset="-122"/>
                <a:cs typeface="Calibri" pitchFamily="34" charset="-120"/>
              </a:rPr>
              <a:t>ARIMA and exponential smoothing are fast and hard to beat on a single clean series.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02920" y="457200"/>
            <a:ext cx="201168" cy="201168"/>
          </a:xfrm>
          <a:prstGeom prst="rect">
            <a:avLst/>
          </a:prstGeom>
          <a:solidFill>
            <a:srgbClr val="0FB5A8"/>
          </a:solidFill>
          <a:ln/>
        </p:spPr>
      </p:sp>
      <p:sp>
        <p:nvSpPr>
          <p:cNvPr id="3" name="Text 1"/>
          <p:cNvSpPr/>
          <p:nvPr/>
        </p:nvSpPr>
        <p:spPr>
          <a:xfrm>
            <a:off x="822960" y="365760"/>
            <a:ext cx="10789920" cy="292608"/>
          </a:xfrm>
          <a:prstGeom prst="rect">
            <a:avLst/>
          </a:prstGeom>
          <a:noFill/>
          <a:ln/>
        </p:spPr>
        <p:txBody>
          <a:bodyPr wrap="square" lIns="0" tIns="0" rIns="0" bIns="0" rtlCol="0" anchor="ctr"/>
          <a:lstStyle/>
          <a:p>
            <a:pPr indent="0" marL="0">
              <a:buNone/>
            </a:pPr>
            <a:r>
              <a:rPr lang="en-US" sz="1200" b="1" spc="300" kern="0" dirty="0">
                <a:solidFill>
                  <a:srgbClr val="0FB5A8"/>
                </a:solidFill>
                <a:latin typeface="Calibri" pitchFamily="34" charset="0"/>
                <a:ea typeface="Calibri" pitchFamily="34" charset="-122"/>
                <a:cs typeface="Calibri" pitchFamily="34" charset="-120"/>
              </a:rPr>
              <a:t>THE CORE IDEA</a:t>
            </a:r>
            <a:endParaRPr lang="en-US" sz="1200" dirty="0"/>
          </a:p>
        </p:txBody>
      </p:sp>
      <p:sp>
        <p:nvSpPr>
          <p:cNvPr id="4" name="Text 2"/>
          <p:cNvSpPr/>
          <p:nvPr/>
        </p:nvSpPr>
        <p:spPr>
          <a:xfrm>
            <a:off x="777240" y="603504"/>
            <a:ext cx="10881360" cy="777240"/>
          </a:xfrm>
          <a:prstGeom prst="rect">
            <a:avLst/>
          </a:prstGeom>
          <a:noFill/>
          <a:ln/>
        </p:spPr>
        <p:txBody>
          <a:bodyPr wrap="square" lIns="0" tIns="0" rIns="0" bIns="0" rtlCol="0" anchor="ctr"/>
          <a:lstStyle/>
          <a:p>
            <a:pPr indent="0" marL="0">
              <a:buNone/>
            </a:pPr>
            <a:r>
              <a:rPr lang="en-US" sz="3000" b="1" dirty="0">
                <a:solidFill>
                  <a:srgbClr val="0B2545"/>
                </a:solidFill>
                <a:latin typeface="Georgia" pitchFamily="34" charset="0"/>
                <a:ea typeface="Georgia" pitchFamily="34" charset="-122"/>
                <a:cs typeface="Georgia" pitchFamily="34" charset="-120"/>
              </a:rPr>
              <a:t>A foundation model: pre-train once, reuse everywhere</a:t>
            </a:r>
            <a:endParaRPr lang="en-US" sz="3000" dirty="0"/>
          </a:p>
        </p:txBody>
      </p:sp>
      <p:sp>
        <p:nvSpPr>
          <p:cNvPr id="5" name="Text 3"/>
          <p:cNvSpPr/>
          <p:nvPr/>
        </p:nvSpPr>
        <p:spPr>
          <a:xfrm>
            <a:off x="502920" y="6437376"/>
            <a:ext cx="7315200" cy="274320"/>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Time-Series Foundation Models  ·  CMPE 258 Short Story</a:t>
            </a:r>
            <a:endParaRPr lang="en-US" sz="900" dirty="0"/>
          </a:p>
        </p:txBody>
      </p:sp>
      <p:sp>
        <p:nvSpPr>
          <p:cNvPr id="6" name="Text 4"/>
          <p:cNvSpPr/>
          <p:nvPr/>
        </p:nvSpPr>
        <p:spPr>
          <a:xfrm>
            <a:off x="11338560" y="6437376"/>
            <a:ext cx="365760" cy="274320"/>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777240" y="1600200"/>
            <a:ext cx="5486400" cy="4297680"/>
          </a:xfrm>
          <a:prstGeom prst="roundRect">
            <a:avLst>
              <a:gd name="adj" fmla="val 1277"/>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8" name="Text 6"/>
          <p:cNvSpPr/>
          <p:nvPr/>
        </p:nvSpPr>
        <p:spPr>
          <a:xfrm>
            <a:off x="1051560" y="1783080"/>
            <a:ext cx="4937760" cy="411480"/>
          </a:xfrm>
          <a:prstGeom prst="rect">
            <a:avLst/>
          </a:prstGeom>
          <a:noFill/>
          <a:ln/>
        </p:spPr>
        <p:txBody>
          <a:bodyPr wrap="square" lIns="0" tIns="0" rIns="0" bIns="0" rtlCol="0" anchor="ctr"/>
          <a:lstStyle/>
          <a:p>
            <a:pPr indent="0" marL="0">
              <a:buNone/>
            </a:pPr>
            <a:r>
              <a:rPr lang="en-US" sz="1800" b="1" dirty="0">
                <a:solidFill>
                  <a:srgbClr val="0B2545"/>
                </a:solidFill>
                <a:latin typeface="Georgia" pitchFamily="34" charset="0"/>
                <a:ea typeface="Georgia" pitchFamily="34" charset="-122"/>
                <a:cs typeface="Georgia" pitchFamily="34" charset="-120"/>
              </a:rPr>
              <a:t>What is a foundation model?</a:t>
            </a:r>
            <a:endParaRPr lang="en-US" sz="1800" dirty="0"/>
          </a:p>
        </p:txBody>
      </p:sp>
      <p:sp>
        <p:nvSpPr>
          <p:cNvPr id="9" name="Text 7"/>
          <p:cNvSpPr/>
          <p:nvPr/>
        </p:nvSpPr>
        <p:spPr>
          <a:xfrm>
            <a:off x="1051560" y="2286000"/>
            <a:ext cx="4937760" cy="1554480"/>
          </a:xfrm>
          <a:prstGeom prst="rect">
            <a:avLst/>
          </a:prstGeom>
          <a:noFill/>
          <a:ln/>
        </p:spPr>
        <p:txBody>
          <a:bodyPr wrap="square" lIns="0" tIns="0" rIns="0" bIns="0" rtlCol="0" anchor="ctr"/>
          <a:lstStyle/>
          <a:p>
            <a:pPr indent="0" marL="0">
              <a:spcAft>
                <a:spcPts val="1000"/>
              </a:spcAft>
              <a:buNone/>
            </a:pPr>
            <a:r>
              <a:rPr lang="en-US" sz="1400" dirty="0">
                <a:solidFill>
                  <a:srgbClr val="1B2A3A"/>
                </a:solidFill>
                <a:latin typeface="Calibri" pitchFamily="34" charset="0"/>
                <a:ea typeface="Calibri" pitchFamily="34" charset="-122"/>
                <a:cs typeface="Calibri" pitchFamily="34" charset="-120"/>
              </a:rPr>
              <a:t>A large network pre-trained on a huge, broad dataset, then reused — often with no further training — across many tasks.</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For time series the tasks are: forecasting, imputation (gap-filling), classification, and anomaly detection.</a:t>
            </a:r>
            <a:endParaRPr lang="en-US" sz="1400" dirty="0"/>
          </a:p>
        </p:txBody>
      </p:sp>
      <p:sp>
        <p:nvSpPr>
          <p:cNvPr id="10" name="Shape 8"/>
          <p:cNvSpPr/>
          <p:nvPr/>
        </p:nvSpPr>
        <p:spPr>
          <a:xfrm>
            <a:off x="1051560" y="3977640"/>
            <a:ext cx="4937760" cy="18288"/>
          </a:xfrm>
          <a:prstGeom prst="rect">
            <a:avLst/>
          </a:prstGeom>
          <a:solidFill>
            <a:srgbClr val="E1E7EE"/>
          </a:solidFill>
          <a:ln/>
        </p:spPr>
      </p:sp>
      <p:sp>
        <p:nvSpPr>
          <p:cNvPr id="11" name="Text 9"/>
          <p:cNvSpPr/>
          <p:nvPr/>
        </p:nvSpPr>
        <p:spPr>
          <a:xfrm>
            <a:off x="1051560" y="4114800"/>
            <a:ext cx="4937760" cy="274320"/>
          </a:xfrm>
          <a:prstGeom prst="rect">
            <a:avLst/>
          </a:prstGeom>
          <a:noFill/>
          <a:ln/>
        </p:spPr>
        <p:txBody>
          <a:bodyPr wrap="square" lIns="0" tIns="0" rIns="0" bIns="0" rtlCol="0" anchor="ctr"/>
          <a:lstStyle/>
          <a:p>
            <a:pPr indent="0" marL="0">
              <a:buNone/>
            </a:pPr>
            <a:r>
              <a:rPr lang="en-US" sz="1100" b="1" spc="200" kern="0" dirty="0">
                <a:solidFill>
                  <a:srgbClr val="0FB5A8"/>
                </a:solidFill>
                <a:latin typeface="Calibri" pitchFamily="34" charset="0"/>
                <a:ea typeface="Calibri" pitchFamily="34" charset="-122"/>
                <a:cs typeface="Calibri" pitchFamily="34" charset="-120"/>
              </a:rPr>
              <a:t>THE SURVEY</a:t>
            </a:r>
            <a:endParaRPr lang="en-US" sz="1100" dirty="0"/>
          </a:p>
        </p:txBody>
      </p:sp>
      <p:sp>
        <p:nvSpPr>
          <p:cNvPr id="12" name="Text 10"/>
          <p:cNvSpPr/>
          <p:nvPr/>
        </p:nvSpPr>
        <p:spPr>
          <a:xfrm>
            <a:off x="1051560" y="4389120"/>
            <a:ext cx="4937760" cy="1280160"/>
          </a:xfrm>
          <a:prstGeom prst="rect">
            <a:avLst/>
          </a:prstGeom>
          <a:noFill/>
          <a:ln/>
        </p:spPr>
        <p:txBody>
          <a:bodyPr wrap="square" lIns="0" tIns="0" rIns="0" bIns="0" rtlCol="0" anchor="ctr"/>
          <a:lstStyle/>
          <a:p>
            <a:pPr indent="0" marL="0">
              <a:buNone/>
            </a:pPr>
            <a:r>
              <a:rPr lang="en-US" sz="1300" dirty="0">
                <a:solidFill>
                  <a:srgbClr val="1B2A3A"/>
                </a:solidFill>
                <a:latin typeface="Calibri" pitchFamily="34" charset="0"/>
                <a:ea typeface="Calibri" pitchFamily="34" charset="-122"/>
                <a:cs typeface="Calibri" pitchFamily="34" charset="-120"/>
              </a:rPr>
              <a:t>Ye et al. (2025) map 88 papers — the only survey covering all three build pathways under one “modality-aware, challenge-oriented” lens.</a:t>
            </a:r>
            <a:endParaRPr lang="en-US" sz="1300" dirty="0"/>
          </a:p>
        </p:txBody>
      </p:sp>
      <p:sp>
        <p:nvSpPr>
          <p:cNvPr id="13" name="Shape 11"/>
          <p:cNvSpPr/>
          <p:nvPr/>
        </p:nvSpPr>
        <p:spPr>
          <a:xfrm>
            <a:off x="6492240" y="1600200"/>
            <a:ext cx="4892040" cy="4297680"/>
          </a:xfrm>
          <a:prstGeom prst="roundRect">
            <a:avLst>
              <a:gd name="adj" fmla="val 1277"/>
            </a:avLst>
          </a:prstGeom>
          <a:solidFill>
            <a:srgbClr val="0B2545"/>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14" name="Text 12"/>
          <p:cNvSpPr/>
          <p:nvPr/>
        </p:nvSpPr>
        <p:spPr>
          <a:xfrm>
            <a:off x="6812280" y="1874520"/>
            <a:ext cx="4297680" cy="320040"/>
          </a:xfrm>
          <a:prstGeom prst="rect">
            <a:avLst/>
          </a:prstGeom>
          <a:noFill/>
          <a:ln/>
        </p:spPr>
        <p:txBody>
          <a:bodyPr wrap="square" lIns="0" tIns="0" rIns="0" bIns="0" rtlCol="0" anchor="ctr"/>
          <a:lstStyle/>
          <a:p>
            <a:pPr indent="0" marL="0">
              <a:buNone/>
            </a:pPr>
            <a:r>
              <a:rPr lang="en-US" sz="1200" b="1" spc="200" kern="0" dirty="0">
                <a:solidFill>
                  <a:srgbClr val="0FB5A8"/>
                </a:solidFill>
                <a:latin typeface="Calibri" pitchFamily="34" charset="0"/>
                <a:ea typeface="Calibri" pitchFamily="34" charset="-122"/>
                <a:cs typeface="Calibri" pitchFamily="34" charset="-120"/>
              </a:rPr>
              <a:t>THE QUESTION THIS TALK ANSWERS</a:t>
            </a:r>
            <a:endParaRPr lang="en-US" sz="1200" dirty="0"/>
          </a:p>
        </p:txBody>
      </p:sp>
      <p:sp>
        <p:nvSpPr>
          <p:cNvPr id="15" name="Text 13"/>
          <p:cNvSpPr/>
          <p:nvPr/>
        </p:nvSpPr>
        <p:spPr>
          <a:xfrm>
            <a:off x="6812280" y="2286000"/>
            <a:ext cx="4297680" cy="1737360"/>
          </a:xfrm>
          <a:prstGeom prst="rect">
            <a:avLst/>
          </a:prstGeom>
          <a:noFill/>
          <a:ln/>
        </p:spPr>
        <p:txBody>
          <a:bodyPr wrap="square" lIns="0" tIns="0" rIns="0" bIns="0" rtlCol="0" anchor="ctr"/>
          <a:lstStyle/>
          <a:p>
            <a:pPr indent="0" marL="0">
              <a:buNone/>
            </a:pPr>
            <a:r>
              <a:rPr lang="en-US" sz="2100" i="1" dirty="0">
                <a:solidFill>
                  <a:srgbClr val="FFFFFF"/>
                </a:solidFill>
                <a:latin typeface="Georgia" pitchFamily="34" charset="0"/>
                <a:ea typeface="Georgia" pitchFamily="34" charset="-122"/>
                <a:cs typeface="Georgia" pitchFamily="34" charset="-120"/>
              </a:rPr>
              <a:t>Can a model pre-trained once forecast a series it has never seen — with zero training on it — and still beat models tuned to that series?</a:t>
            </a:r>
            <a:endParaRPr lang="en-US" sz="2100" dirty="0"/>
          </a:p>
        </p:txBody>
      </p:sp>
      <p:sp>
        <p:nvSpPr>
          <p:cNvPr id="16" name="Text 14"/>
          <p:cNvSpPr/>
          <p:nvPr/>
        </p:nvSpPr>
        <p:spPr>
          <a:xfrm>
            <a:off x="6812280" y="4892040"/>
            <a:ext cx="4297680" cy="8229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This is the “zero-shot” promise. Slides 11–14 put it to the test on real data.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02920" y="457200"/>
            <a:ext cx="201168" cy="201168"/>
          </a:xfrm>
          <a:prstGeom prst="rect">
            <a:avLst/>
          </a:prstGeom>
          <a:solidFill>
            <a:srgbClr val="0FB5A8"/>
          </a:solidFill>
          <a:ln/>
        </p:spPr>
      </p:sp>
      <p:sp>
        <p:nvSpPr>
          <p:cNvPr id="3" name="Text 1"/>
          <p:cNvSpPr/>
          <p:nvPr/>
        </p:nvSpPr>
        <p:spPr>
          <a:xfrm>
            <a:off x="822960" y="365760"/>
            <a:ext cx="10789920" cy="292608"/>
          </a:xfrm>
          <a:prstGeom prst="rect">
            <a:avLst/>
          </a:prstGeom>
          <a:noFill/>
          <a:ln/>
        </p:spPr>
        <p:txBody>
          <a:bodyPr wrap="square" lIns="0" tIns="0" rIns="0" bIns="0" rtlCol="0" anchor="ctr"/>
          <a:lstStyle/>
          <a:p>
            <a:pPr indent="0" marL="0">
              <a:buNone/>
            </a:pPr>
            <a:r>
              <a:rPr lang="en-US" sz="1200" b="1" spc="300" kern="0" dirty="0">
                <a:solidFill>
                  <a:srgbClr val="0FB5A8"/>
                </a:solidFill>
                <a:latin typeface="Calibri" pitchFamily="34" charset="0"/>
                <a:ea typeface="Calibri" pitchFamily="34" charset="-122"/>
                <a:cs typeface="Calibri" pitchFamily="34" charset="-120"/>
              </a:rPr>
              <a:t>TAXONOMY</a:t>
            </a:r>
            <a:endParaRPr lang="en-US" sz="1200" dirty="0"/>
          </a:p>
        </p:txBody>
      </p:sp>
      <p:sp>
        <p:nvSpPr>
          <p:cNvPr id="4" name="Text 2"/>
          <p:cNvSpPr/>
          <p:nvPr/>
        </p:nvSpPr>
        <p:spPr>
          <a:xfrm>
            <a:off x="777240" y="603504"/>
            <a:ext cx="10881360" cy="777240"/>
          </a:xfrm>
          <a:prstGeom prst="rect">
            <a:avLst/>
          </a:prstGeom>
          <a:noFill/>
          <a:ln/>
        </p:spPr>
        <p:txBody>
          <a:bodyPr wrap="square" lIns="0" tIns="0" rIns="0" bIns="0" rtlCol="0" anchor="ctr"/>
          <a:lstStyle/>
          <a:p>
            <a:pPr indent="0" marL="0">
              <a:buNone/>
            </a:pPr>
            <a:r>
              <a:rPr lang="en-US" sz="3000" b="1" dirty="0">
                <a:solidFill>
                  <a:srgbClr val="0B2545"/>
                </a:solidFill>
                <a:latin typeface="Georgia" pitchFamily="34" charset="0"/>
                <a:ea typeface="Georgia" pitchFamily="34" charset="-122"/>
                <a:cs typeface="Georgia" pitchFamily="34" charset="-120"/>
              </a:rPr>
              <a:t>Three pathways to a time-series foundation model</a:t>
            </a:r>
            <a:endParaRPr lang="en-US" sz="3000" dirty="0"/>
          </a:p>
        </p:txBody>
      </p:sp>
      <p:sp>
        <p:nvSpPr>
          <p:cNvPr id="5" name="Text 3"/>
          <p:cNvSpPr/>
          <p:nvPr/>
        </p:nvSpPr>
        <p:spPr>
          <a:xfrm>
            <a:off x="502920" y="6437376"/>
            <a:ext cx="7315200" cy="274320"/>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Time-Series Foundation Models  ·  CMPE 258 Short Story</a:t>
            </a:r>
            <a:endParaRPr lang="en-US" sz="900" dirty="0"/>
          </a:p>
        </p:txBody>
      </p:sp>
      <p:sp>
        <p:nvSpPr>
          <p:cNvPr id="6" name="Text 4"/>
          <p:cNvSpPr/>
          <p:nvPr/>
        </p:nvSpPr>
        <p:spPr>
          <a:xfrm>
            <a:off x="11338560" y="6437376"/>
            <a:ext cx="365760" cy="274320"/>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4</a:t>
            </a:r>
            <a:endParaRPr lang="en-US" sz="900" dirty="0"/>
          </a:p>
        </p:txBody>
      </p:sp>
      <p:pic>
        <p:nvPicPr>
          <p:cNvPr id="7" name="Image 0" descr="../medium_article/images/fig1_three_pathways.png">    </p:cNvPr>
          <p:cNvPicPr>
            <a:picLocks noChangeAspect="1"/>
          </p:cNvPicPr>
          <p:nvPr/>
        </p:nvPicPr>
        <p:blipFill>
          <a:blip r:embed="rId1"/>
          <a:stretch>
            <a:fillRect/>
          </a:stretch>
        </p:blipFill>
        <p:spPr>
          <a:xfrm>
            <a:off x="777240" y="1906621"/>
            <a:ext cx="7406640" cy="3501957"/>
          </a:xfrm>
          <a:prstGeom prst="rect">
            <a:avLst/>
          </a:prstGeom>
        </p:spPr>
      </p:pic>
      <p:sp>
        <p:nvSpPr>
          <p:cNvPr id="8" name="Shape 5"/>
          <p:cNvSpPr/>
          <p:nvPr/>
        </p:nvSpPr>
        <p:spPr>
          <a:xfrm>
            <a:off x="8412480" y="1508760"/>
            <a:ext cx="3108960" cy="4434840"/>
          </a:xfrm>
          <a:prstGeom prst="roundRect">
            <a:avLst>
              <a:gd name="adj" fmla="val 1765"/>
            </a:avLst>
          </a:prstGeom>
          <a:solidFill>
            <a:srgbClr val="0B2545"/>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9" name="Text 6"/>
          <p:cNvSpPr/>
          <p:nvPr/>
        </p:nvSpPr>
        <p:spPr>
          <a:xfrm>
            <a:off x="8686800" y="1783080"/>
            <a:ext cx="2651760" cy="365760"/>
          </a:xfrm>
          <a:prstGeom prst="rect">
            <a:avLst/>
          </a:prstGeom>
          <a:noFill/>
          <a:ln/>
        </p:spPr>
        <p:txBody>
          <a:bodyPr wrap="square" lIns="0" tIns="0" rIns="0" bIns="0" rtlCol="0" anchor="ctr"/>
          <a:lstStyle/>
          <a:p>
            <a:pPr indent="0" marL="0">
              <a:buNone/>
            </a:pPr>
            <a:r>
              <a:rPr lang="en-US" sz="1700" b="1" dirty="0">
                <a:solidFill>
                  <a:srgbClr val="0FB5A8"/>
                </a:solidFill>
                <a:latin typeface="Georgia" pitchFamily="34" charset="0"/>
                <a:ea typeface="Georgia" pitchFamily="34" charset="-122"/>
                <a:cs typeface="Georgia" pitchFamily="34" charset="-120"/>
              </a:rPr>
              <a:t>1 · TSFM</a:t>
            </a:r>
            <a:endParaRPr lang="en-US" sz="1700" dirty="0"/>
          </a:p>
        </p:txBody>
      </p:sp>
      <p:sp>
        <p:nvSpPr>
          <p:cNvPr id="10" name="Text 7"/>
          <p:cNvSpPr/>
          <p:nvPr/>
        </p:nvSpPr>
        <p:spPr>
          <a:xfrm>
            <a:off x="8686800" y="2167128"/>
            <a:ext cx="2606040" cy="9144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Pre-train from scratch on billions of real time points.</a:t>
            </a:r>
            <a:endParaRPr lang="en-US" sz="1250" dirty="0"/>
          </a:p>
        </p:txBody>
      </p:sp>
      <p:sp>
        <p:nvSpPr>
          <p:cNvPr id="11" name="Text 8"/>
          <p:cNvSpPr/>
          <p:nvPr/>
        </p:nvSpPr>
        <p:spPr>
          <a:xfrm>
            <a:off x="8686800" y="3154680"/>
            <a:ext cx="2651760" cy="365760"/>
          </a:xfrm>
          <a:prstGeom prst="rect">
            <a:avLst/>
          </a:prstGeom>
          <a:noFill/>
          <a:ln/>
        </p:spPr>
        <p:txBody>
          <a:bodyPr wrap="square" lIns="0" tIns="0" rIns="0" bIns="0" rtlCol="0" anchor="ctr"/>
          <a:lstStyle/>
          <a:p>
            <a:pPr indent="0" marL="0">
              <a:buNone/>
            </a:pPr>
            <a:r>
              <a:rPr lang="en-US" sz="1700" b="1" dirty="0">
                <a:solidFill>
                  <a:srgbClr val="0FB5A8"/>
                </a:solidFill>
                <a:latin typeface="Georgia" pitchFamily="34" charset="0"/>
                <a:ea typeface="Georgia" pitchFamily="34" charset="-122"/>
                <a:cs typeface="Georgia" pitchFamily="34" charset="-120"/>
              </a:rPr>
              <a:t>2 · LFM</a:t>
            </a:r>
            <a:endParaRPr lang="en-US" sz="1700" dirty="0"/>
          </a:p>
        </p:txBody>
      </p:sp>
      <p:sp>
        <p:nvSpPr>
          <p:cNvPr id="12" name="Text 9"/>
          <p:cNvSpPr/>
          <p:nvPr/>
        </p:nvSpPr>
        <p:spPr>
          <a:xfrm>
            <a:off x="8686800" y="3538728"/>
            <a:ext cx="2606040" cy="9144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Reuse a pre-trained LLM; bridge text and signal.</a:t>
            </a:r>
            <a:endParaRPr lang="en-US" sz="1250" dirty="0"/>
          </a:p>
        </p:txBody>
      </p:sp>
      <p:sp>
        <p:nvSpPr>
          <p:cNvPr id="13" name="Text 10"/>
          <p:cNvSpPr/>
          <p:nvPr/>
        </p:nvSpPr>
        <p:spPr>
          <a:xfrm>
            <a:off x="8686800" y="4526280"/>
            <a:ext cx="2651760" cy="365760"/>
          </a:xfrm>
          <a:prstGeom prst="rect">
            <a:avLst/>
          </a:prstGeom>
          <a:noFill/>
          <a:ln/>
        </p:spPr>
        <p:txBody>
          <a:bodyPr wrap="square" lIns="0" tIns="0" rIns="0" bIns="0" rtlCol="0" anchor="ctr"/>
          <a:lstStyle/>
          <a:p>
            <a:pPr indent="0" marL="0">
              <a:buNone/>
            </a:pPr>
            <a:r>
              <a:rPr lang="en-US" sz="1700" b="1" dirty="0">
                <a:solidFill>
                  <a:srgbClr val="0FB5A8"/>
                </a:solidFill>
                <a:latin typeface="Georgia" pitchFamily="34" charset="0"/>
                <a:ea typeface="Georgia" pitchFamily="34" charset="-122"/>
                <a:cs typeface="Georgia" pitchFamily="34" charset="-120"/>
              </a:rPr>
              <a:t>3 · VFM</a:t>
            </a:r>
            <a:endParaRPr lang="en-US" sz="1700" dirty="0"/>
          </a:p>
        </p:txBody>
      </p:sp>
      <p:sp>
        <p:nvSpPr>
          <p:cNvPr id="14" name="Text 11"/>
          <p:cNvSpPr/>
          <p:nvPr/>
        </p:nvSpPr>
        <p:spPr>
          <a:xfrm>
            <a:off x="8686800" y="4910328"/>
            <a:ext cx="2606040" cy="9144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Render the series as an image; reuse a vision model.</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02920" y="457200"/>
            <a:ext cx="201168" cy="201168"/>
          </a:xfrm>
          <a:prstGeom prst="rect">
            <a:avLst/>
          </a:prstGeom>
          <a:solidFill>
            <a:srgbClr val="0FB5A8"/>
          </a:solidFill>
          <a:ln/>
        </p:spPr>
      </p:sp>
      <p:sp>
        <p:nvSpPr>
          <p:cNvPr id="3" name="Text 1"/>
          <p:cNvSpPr/>
          <p:nvPr/>
        </p:nvSpPr>
        <p:spPr>
          <a:xfrm>
            <a:off x="822960" y="365760"/>
            <a:ext cx="10789920" cy="292608"/>
          </a:xfrm>
          <a:prstGeom prst="rect">
            <a:avLst/>
          </a:prstGeom>
          <a:noFill/>
          <a:ln/>
        </p:spPr>
        <p:txBody>
          <a:bodyPr wrap="square" lIns="0" tIns="0" rIns="0" bIns="0" rtlCol="0" anchor="ctr"/>
          <a:lstStyle/>
          <a:p>
            <a:pPr indent="0" marL="0">
              <a:buNone/>
            </a:pPr>
            <a:r>
              <a:rPr lang="en-US" sz="1200" b="1" spc="300" kern="0" dirty="0">
                <a:solidFill>
                  <a:srgbClr val="0FB5A8"/>
                </a:solidFill>
                <a:latin typeface="Calibri" pitchFamily="34" charset="0"/>
                <a:ea typeface="Calibri" pitchFamily="34" charset="-122"/>
                <a:cs typeface="Calibri" pitchFamily="34" charset="-120"/>
              </a:rPr>
              <a:t>PATHWAY 1 · TSFM</a:t>
            </a:r>
            <a:endParaRPr lang="en-US" sz="1200" dirty="0"/>
          </a:p>
        </p:txBody>
      </p:sp>
      <p:sp>
        <p:nvSpPr>
          <p:cNvPr id="4" name="Text 2"/>
          <p:cNvSpPr/>
          <p:nvPr/>
        </p:nvSpPr>
        <p:spPr>
          <a:xfrm>
            <a:off x="777240" y="603504"/>
            <a:ext cx="10881360" cy="777240"/>
          </a:xfrm>
          <a:prstGeom prst="rect">
            <a:avLst/>
          </a:prstGeom>
          <a:noFill/>
          <a:ln/>
        </p:spPr>
        <p:txBody>
          <a:bodyPr wrap="square" lIns="0" tIns="0" rIns="0" bIns="0" rtlCol="0" anchor="ctr"/>
          <a:lstStyle/>
          <a:p>
            <a:pPr indent="0" marL="0">
              <a:buNone/>
            </a:pPr>
            <a:r>
              <a:rPr lang="en-US" sz="3000" b="1" dirty="0">
                <a:solidFill>
                  <a:srgbClr val="0B2545"/>
                </a:solidFill>
                <a:latin typeface="Georgia" pitchFamily="34" charset="0"/>
                <a:ea typeface="Georgia" pitchFamily="34" charset="-122"/>
                <a:cs typeface="Georgia" pitchFamily="34" charset="-120"/>
              </a:rPr>
              <a:t>Building a TSFM means solving four design challenges</a:t>
            </a:r>
            <a:endParaRPr lang="en-US" sz="3000" dirty="0"/>
          </a:p>
        </p:txBody>
      </p:sp>
      <p:sp>
        <p:nvSpPr>
          <p:cNvPr id="5" name="Text 3"/>
          <p:cNvSpPr/>
          <p:nvPr/>
        </p:nvSpPr>
        <p:spPr>
          <a:xfrm>
            <a:off x="502920" y="6437376"/>
            <a:ext cx="7315200" cy="274320"/>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Time-Series Foundation Models  ·  CMPE 258 Short Story</a:t>
            </a:r>
            <a:endParaRPr lang="en-US" sz="900" dirty="0"/>
          </a:p>
        </p:txBody>
      </p:sp>
      <p:sp>
        <p:nvSpPr>
          <p:cNvPr id="6" name="Text 4"/>
          <p:cNvSpPr/>
          <p:nvPr/>
        </p:nvSpPr>
        <p:spPr>
          <a:xfrm>
            <a:off x="11338560" y="6437376"/>
            <a:ext cx="365760" cy="274320"/>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5</a:t>
            </a:r>
            <a:endParaRPr lang="en-US" sz="900" dirty="0"/>
          </a:p>
        </p:txBody>
      </p:sp>
      <p:pic>
        <p:nvPicPr>
          <p:cNvPr id="7" name="Image 0" descr="../medium_article/images/fig2_tsfm_challenges.png">    </p:cNvPr>
          <p:cNvPicPr>
            <a:picLocks noChangeAspect="1"/>
          </p:cNvPicPr>
          <p:nvPr/>
        </p:nvPicPr>
        <p:blipFill>
          <a:blip r:embed="rId1"/>
          <a:stretch>
            <a:fillRect/>
          </a:stretch>
        </p:blipFill>
        <p:spPr>
          <a:xfrm>
            <a:off x="2634889" y="1417320"/>
            <a:ext cx="6891741" cy="3383280"/>
          </a:xfrm>
          <a:prstGeom prst="rect">
            <a:avLst/>
          </a:prstGeom>
        </p:spPr>
      </p:pic>
      <p:sp>
        <p:nvSpPr>
          <p:cNvPr id="8" name="Shape 5"/>
          <p:cNvSpPr/>
          <p:nvPr/>
        </p:nvSpPr>
        <p:spPr>
          <a:xfrm>
            <a:off x="777240" y="4937760"/>
            <a:ext cx="2514600" cy="1143000"/>
          </a:xfrm>
          <a:prstGeom prst="roundRect">
            <a:avLst>
              <a:gd name="adj" fmla="val 4800"/>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9" name="Text 6"/>
          <p:cNvSpPr/>
          <p:nvPr/>
        </p:nvSpPr>
        <p:spPr>
          <a:xfrm>
            <a:off x="914400" y="5047488"/>
            <a:ext cx="2240280" cy="347472"/>
          </a:xfrm>
          <a:prstGeom prst="rect">
            <a:avLst/>
          </a:prstGeom>
          <a:noFill/>
          <a:ln/>
        </p:spPr>
        <p:txBody>
          <a:bodyPr wrap="square" lIns="0" tIns="0" rIns="0" bIns="0" rtlCol="0" anchor="ctr"/>
          <a:lstStyle/>
          <a:p>
            <a:pPr indent="0" marL="0">
              <a:buNone/>
            </a:pPr>
            <a:r>
              <a:rPr lang="en-US" sz="1500" b="1" dirty="0">
                <a:solidFill>
                  <a:srgbClr val="0FB5A8"/>
                </a:solidFill>
                <a:latin typeface="Georgia" pitchFamily="34" charset="0"/>
                <a:ea typeface="Georgia" pitchFamily="34" charset="-122"/>
                <a:cs typeface="Georgia" pitchFamily="34" charset="-120"/>
              </a:rPr>
              <a:t>Corpus</a:t>
            </a:r>
            <a:endParaRPr lang="en-US" sz="1500" dirty="0"/>
          </a:p>
        </p:txBody>
      </p:sp>
      <p:sp>
        <p:nvSpPr>
          <p:cNvPr id="10" name="Text 7"/>
          <p:cNvSpPr/>
          <p:nvPr/>
        </p:nvSpPr>
        <p:spPr>
          <a:xfrm>
            <a:off x="914400" y="5394960"/>
            <a:ext cx="2240280" cy="594360"/>
          </a:xfrm>
          <a:prstGeom prst="rect">
            <a:avLst/>
          </a:prstGeom>
          <a:noFill/>
          <a:ln/>
        </p:spPr>
        <p:txBody>
          <a:bodyPr wrap="square" lIns="0" tIns="0" rIns="0" bIns="0" rtlCol="0" anchor="ctr"/>
          <a:lstStyle/>
          <a:p>
            <a:pPr indent="0" marL="0">
              <a:buNone/>
            </a:pPr>
            <a:r>
              <a:rPr lang="en-US" sz="1200" dirty="0">
                <a:solidFill>
                  <a:srgbClr val="1B2A3A"/>
                </a:solidFill>
                <a:latin typeface="Calibri" pitchFamily="34" charset="0"/>
                <a:ea typeface="Calibri" pitchFamily="34" charset="-122"/>
                <a:cs typeface="Calibri" pitchFamily="34" charset="-120"/>
              </a:rPr>
              <a:t>Integrate + synthesize data</a:t>
            </a:r>
            <a:endParaRPr lang="en-US" sz="1200" dirty="0"/>
          </a:p>
        </p:txBody>
      </p:sp>
      <p:sp>
        <p:nvSpPr>
          <p:cNvPr id="11" name="Shape 8"/>
          <p:cNvSpPr/>
          <p:nvPr/>
        </p:nvSpPr>
        <p:spPr>
          <a:xfrm>
            <a:off x="3474720" y="4937760"/>
            <a:ext cx="2514600" cy="1143000"/>
          </a:xfrm>
          <a:prstGeom prst="roundRect">
            <a:avLst>
              <a:gd name="adj" fmla="val 4800"/>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12" name="Text 9"/>
          <p:cNvSpPr/>
          <p:nvPr/>
        </p:nvSpPr>
        <p:spPr>
          <a:xfrm>
            <a:off x="3611880" y="5047488"/>
            <a:ext cx="2240280" cy="347472"/>
          </a:xfrm>
          <a:prstGeom prst="rect">
            <a:avLst/>
          </a:prstGeom>
          <a:noFill/>
          <a:ln/>
        </p:spPr>
        <p:txBody>
          <a:bodyPr wrap="square" lIns="0" tIns="0" rIns="0" bIns="0" rtlCol="0" anchor="ctr"/>
          <a:lstStyle/>
          <a:p>
            <a:pPr indent="0" marL="0">
              <a:buNone/>
            </a:pPr>
            <a:r>
              <a:rPr lang="en-US" sz="1500" b="1" dirty="0">
                <a:solidFill>
                  <a:srgbClr val="0FB5A8"/>
                </a:solidFill>
                <a:latin typeface="Georgia" pitchFamily="34" charset="0"/>
                <a:ea typeface="Georgia" pitchFamily="34" charset="-122"/>
                <a:cs typeface="Georgia" pitchFamily="34" charset="-120"/>
              </a:rPr>
              <a:t>Encoding</a:t>
            </a:r>
            <a:endParaRPr lang="en-US" sz="1500" dirty="0"/>
          </a:p>
        </p:txBody>
      </p:sp>
      <p:sp>
        <p:nvSpPr>
          <p:cNvPr id="13" name="Text 10"/>
          <p:cNvSpPr/>
          <p:nvPr/>
        </p:nvSpPr>
        <p:spPr>
          <a:xfrm>
            <a:off x="3611880" y="5394960"/>
            <a:ext cx="2240280" cy="594360"/>
          </a:xfrm>
          <a:prstGeom prst="rect">
            <a:avLst/>
          </a:prstGeom>
          <a:noFill/>
          <a:ln/>
        </p:spPr>
        <p:txBody>
          <a:bodyPr wrap="square" lIns="0" tIns="0" rIns="0" bIns="0" rtlCol="0" anchor="ctr"/>
          <a:lstStyle/>
          <a:p>
            <a:pPr indent="0" marL="0">
              <a:buNone/>
            </a:pPr>
            <a:r>
              <a:rPr lang="en-US" sz="1200" dirty="0">
                <a:solidFill>
                  <a:srgbClr val="1B2A3A"/>
                </a:solidFill>
                <a:latin typeface="Calibri" pitchFamily="34" charset="0"/>
                <a:ea typeface="Calibri" pitchFamily="34" charset="-122"/>
                <a:cs typeface="Calibri" pitchFamily="34" charset="-120"/>
              </a:rPr>
              <a:t>Turn a signal into tokens</a:t>
            </a:r>
            <a:endParaRPr lang="en-US" sz="1200" dirty="0"/>
          </a:p>
        </p:txBody>
      </p:sp>
      <p:sp>
        <p:nvSpPr>
          <p:cNvPr id="14" name="Shape 11"/>
          <p:cNvSpPr/>
          <p:nvPr/>
        </p:nvSpPr>
        <p:spPr>
          <a:xfrm>
            <a:off x="6172200" y="4937760"/>
            <a:ext cx="2514600" cy="1143000"/>
          </a:xfrm>
          <a:prstGeom prst="roundRect">
            <a:avLst>
              <a:gd name="adj" fmla="val 4800"/>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15" name="Text 12"/>
          <p:cNvSpPr/>
          <p:nvPr/>
        </p:nvSpPr>
        <p:spPr>
          <a:xfrm>
            <a:off x="6309360" y="5047488"/>
            <a:ext cx="2240280" cy="347472"/>
          </a:xfrm>
          <a:prstGeom prst="rect">
            <a:avLst/>
          </a:prstGeom>
          <a:noFill/>
          <a:ln/>
        </p:spPr>
        <p:txBody>
          <a:bodyPr wrap="square" lIns="0" tIns="0" rIns="0" bIns="0" rtlCol="0" anchor="ctr"/>
          <a:lstStyle/>
          <a:p>
            <a:pPr indent="0" marL="0">
              <a:buNone/>
            </a:pPr>
            <a:r>
              <a:rPr lang="en-US" sz="1500" b="1" dirty="0">
                <a:solidFill>
                  <a:srgbClr val="0FB5A8"/>
                </a:solidFill>
                <a:latin typeface="Georgia" pitchFamily="34" charset="0"/>
                <a:ea typeface="Georgia" pitchFamily="34" charset="-122"/>
                <a:cs typeface="Georgia" pitchFamily="34" charset="-120"/>
              </a:rPr>
              <a:t>Architecture</a:t>
            </a:r>
            <a:endParaRPr lang="en-US" sz="1500" dirty="0"/>
          </a:p>
        </p:txBody>
      </p:sp>
      <p:sp>
        <p:nvSpPr>
          <p:cNvPr id="16" name="Text 13"/>
          <p:cNvSpPr/>
          <p:nvPr/>
        </p:nvSpPr>
        <p:spPr>
          <a:xfrm>
            <a:off x="6309360" y="5394960"/>
            <a:ext cx="2240280" cy="594360"/>
          </a:xfrm>
          <a:prstGeom prst="rect">
            <a:avLst/>
          </a:prstGeom>
          <a:noFill/>
          <a:ln/>
        </p:spPr>
        <p:txBody>
          <a:bodyPr wrap="square" lIns="0" tIns="0" rIns="0" bIns="0" rtlCol="0" anchor="ctr"/>
          <a:lstStyle/>
          <a:p>
            <a:pPr indent="0" marL="0">
              <a:buNone/>
            </a:pPr>
            <a:r>
              <a:rPr lang="en-US" sz="1200" dirty="0">
                <a:solidFill>
                  <a:srgbClr val="1B2A3A"/>
                </a:solidFill>
                <a:latin typeface="Calibri" pitchFamily="34" charset="0"/>
                <a:ea typeface="Calibri" pitchFamily="34" charset="-122"/>
                <a:cs typeface="Calibri" pitchFamily="34" charset="-120"/>
              </a:rPr>
              <a:t>Pick a Transformer backbone</a:t>
            </a:r>
            <a:endParaRPr lang="en-US" sz="1200" dirty="0"/>
          </a:p>
        </p:txBody>
      </p:sp>
      <p:sp>
        <p:nvSpPr>
          <p:cNvPr id="17" name="Shape 14"/>
          <p:cNvSpPr/>
          <p:nvPr/>
        </p:nvSpPr>
        <p:spPr>
          <a:xfrm>
            <a:off x="8869680" y="4937760"/>
            <a:ext cx="2514600" cy="1143000"/>
          </a:xfrm>
          <a:prstGeom prst="roundRect">
            <a:avLst>
              <a:gd name="adj" fmla="val 4800"/>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18" name="Text 15"/>
          <p:cNvSpPr/>
          <p:nvPr/>
        </p:nvSpPr>
        <p:spPr>
          <a:xfrm>
            <a:off x="9006840" y="5047488"/>
            <a:ext cx="2240280" cy="347472"/>
          </a:xfrm>
          <a:prstGeom prst="rect">
            <a:avLst/>
          </a:prstGeom>
          <a:noFill/>
          <a:ln/>
        </p:spPr>
        <p:txBody>
          <a:bodyPr wrap="square" lIns="0" tIns="0" rIns="0" bIns="0" rtlCol="0" anchor="ctr"/>
          <a:lstStyle/>
          <a:p>
            <a:pPr indent="0" marL="0">
              <a:buNone/>
            </a:pPr>
            <a:r>
              <a:rPr lang="en-US" sz="1500" b="1" dirty="0">
                <a:solidFill>
                  <a:srgbClr val="0FB5A8"/>
                </a:solidFill>
                <a:latin typeface="Georgia" pitchFamily="34" charset="0"/>
                <a:ea typeface="Georgia" pitchFamily="34" charset="-122"/>
                <a:cs typeface="Georgia" pitchFamily="34" charset="-120"/>
              </a:rPr>
              <a:t>Tasks</a:t>
            </a:r>
            <a:endParaRPr lang="en-US" sz="1500" dirty="0"/>
          </a:p>
        </p:txBody>
      </p:sp>
      <p:sp>
        <p:nvSpPr>
          <p:cNvPr id="19" name="Text 16"/>
          <p:cNvSpPr/>
          <p:nvPr/>
        </p:nvSpPr>
        <p:spPr>
          <a:xfrm>
            <a:off x="9006840" y="5394960"/>
            <a:ext cx="2240280" cy="594360"/>
          </a:xfrm>
          <a:prstGeom prst="rect">
            <a:avLst/>
          </a:prstGeom>
          <a:noFill/>
          <a:ln/>
        </p:spPr>
        <p:txBody>
          <a:bodyPr wrap="square" lIns="0" tIns="0" rIns="0" bIns="0" rtlCol="0" anchor="ctr"/>
          <a:lstStyle/>
          <a:p>
            <a:pPr indent="0" marL="0">
              <a:buNone/>
            </a:pPr>
            <a:r>
              <a:rPr lang="en-US" sz="1200" dirty="0">
                <a:solidFill>
                  <a:srgbClr val="1B2A3A"/>
                </a:solidFill>
                <a:latin typeface="Calibri" pitchFamily="34" charset="0"/>
                <a:ea typeface="Calibri" pitchFamily="34" charset="-122"/>
                <a:cs typeface="Calibri" pitchFamily="34" charset="-120"/>
              </a:rPr>
              <a:t>Serve many tasks at once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02920" y="457200"/>
            <a:ext cx="201168" cy="201168"/>
          </a:xfrm>
          <a:prstGeom prst="rect">
            <a:avLst/>
          </a:prstGeom>
          <a:solidFill>
            <a:srgbClr val="0FB5A8"/>
          </a:solidFill>
          <a:ln/>
        </p:spPr>
      </p:sp>
      <p:sp>
        <p:nvSpPr>
          <p:cNvPr id="3" name="Text 1"/>
          <p:cNvSpPr/>
          <p:nvPr/>
        </p:nvSpPr>
        <p:spPr>
          <a:xfrm>
            <a:off x="822960" y="365760"/>
            <a:ext cx="10789920" cy="292608"/>
          </a:xfrm>
          <a:prstGeom prst="rect">
            <a:avLst/>
          </a:prstGeom>
          <a:noFill/>
          <a:ln/>
        </p:spPr>
        <p:txBody>
          <a:bodyPr wrap="square" lIns="0" tIns="0" rIns="0" bIns="0" rtlCol="0" anchor="ctr"/>
          <a:lstStyle/>
          <a:p>
            <a:pPr indent="0" marL="0">
              <a:buNone/>
            </a:pPr>
            <a:r>
              <a:rPr lang="en-US" sz="1200" b="1" spc="300" kern="0" dirty="0">
                <a:solidFill>
                  <a:srgbClr val="0FB5A8"/>
                </a:solidFill>
                <a:latin typeface="Calibri" pitchFamily="34" charset="0"/>
                <a:ea typeface="Calibri" pitchFamily="34" charset="-122"/>
                <a:cs typeface="Calibri" pitchFamily="34" charset="-120"/>
              </a:rPr>
              <a:t>CHALLENGE 2 · ENCODING</a:t>
            </a:r>
            <a:endParaRPr lang="en-US" sz="1200" dirty="0"/>
          </a:p>
        </p:txBody>
      </p:sp>
      <p:sp>
        <p:nvSpPr>
          <p:cNvPr id="4" name="Text 2"/>
          <p:cNvSpPr/>
          <p:nvPr/>
        </p:nvSpPr>
        <p:spPr>
          <a:xfrm>
            <a:off x="777240" y="603504"/>
            <a:ext cx="10881360" cy="777240"/>
          </a:xfrm>
          <a:prstGeom prst="rect">
            <a:avLst/>
          </a:prstGeom>
          <a:noFill/>
          <a:ln/>
        </p:spPr>
        <p:txBody>
          <a:bodyPr wrap="square" lIns="0" tIns="0" rIns="0" bIns="0" rtlCol="0" anchor="ctr"/>
          <a:lstStyle/>
          <a:p>
            <a:pPr indent="0" marL="0">
              <a:buNone/>
            </a:pPr>
            <a:r>
              <a:rPr lang="en-US" sz="3000" b="1" dirty="0">
                <a:solidFill>
                  <a:srgbClr val="0B2545"/>
                </a:solidFill>
                <a:latin typeface="Georgia" pitchFamily="34" charset="0"/>
                <a:ea typeface="Georgia" pitchFamily="34" charset="-122"/>
                <a:cs typeface="Georgia" pitchFamily="34" charset="-120"/>
              </a:rPr>
              <a:t>How do you turn a continuous signal into tokens?</a:t>
            </a:r>
            <a:endParaRPr lang="en-US" sz="3000" dirty="0"/>
          </a:p>
        </p:txBody>
      </p:sp>
      <p:sp>
        <p:nvSpPr>
          <p:cNvPr id="5" name="Text 3"/>
          <p:cNvSpPr/>
          <p:nvPr/>
        </p:nvSpPr>
        <p:spPr>
          <a:xfrm>
            <a:off x="502920" y="6437376"/>
            <a:ext cx="7315200" cy="274320"/>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Time-Series Foundation Models  ·  CMPE 258 Short Story</a:t>
            </a:r>
            <a:endParaRPr lang="en-US" sz="900" dirty="0"/>
          </a:p>
        </p:txBody>
      </p:sp>
      <p:sp>
        <p:nvSpPr>
          <p:cNvPr id="6" name="Text 4"/>
          <p:cNvSpPr/>
          <p:nvPr/>
        </p:nvSpPr>
        <p:spPr>
          <a:xfrm>
            <a:off x="11338560" y="6437376"/>
            <a:ext cx="365760" cy="274320"/>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777240" y="1645920"/>
            <a:ext cx="3337560" cy="3200400"/>
          </a:xfrm>
          <a:prstGeom prst="roundRect">
            <a:avLst>
              <a:gd name="adj" fmla="val 1714"/>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8" name="Shape 6"/>
          <p:cNvSpPr/>
          <p:nvPr/>
        </p:nvSpPr>
        <p:spPr>
          <a:xfrm>
            <a:off x="777240" y="1645920"/>
            <a:ext cx="3337560" cy="109728"/>
          </a:xfrm>
          <a:prstGeom prst="rect">
            <a:avLst/>
          </a:prstGeom>
          <a:solidFill>
            <a:srgbClr val="13315C"/>
          </a:solidFill>
          <a:ln/>
        </p:spPr>
      </p:sp>
      <p:sp>
        <p:nvSpPr>
          <p:cNvPr id="9" name="Text 7"/>
          <p:cNvSpPr/>
          <p:nvPr/>
        </p:nvSpPr>
        <p:spPr>
          <a:xfrm>
            <a:off x="1005840" y="1874520"/>
            <a:ext cx="2926080" cy="457200"/>
          </a:xfrm>
          <a:prstGeom prst="rect">
            <a:avLst/>
          </a:prstGeom>
          <a:noFill/>
          <a:ln/>
        </p:spPr>
        <p:txBody>
          <a:bodyPr wrap="square" lIns="0" tIns="0" rIns="0" bIns="0" rtlCol="0" anchor="ctr"/>
          <a:lstStyle/>
          <a:p>
            <a:pPr indent="0" marL="0">
              <a:buNone/>
            </a:pPr>
            <a:r>
              <a:rPr lang="en-US" sz="1800" b="1" dirty="0">
                <a:solidFill>
                  <a:srgbClr val="0B2545"/>
                </a:solidFill>
                <a:latin typeface="Georgia" pitchFamily="34" charset="0"/>
                <a:ea typeface="Georgia" pitchFamily="34" charset="-122"/>
                <a:cs typeface="Georgia" pitchFamily="34" charset="-120"/>
              </a:rPr>
              <a:t>Point-wise</a:t>
            </a:r>
            <a:endParaRPr lang="en-US" sz="1800" dirty="0"/>
          </a:p>
        </p:txBody>
      </p:sp>
      <p:sp>
        <p:nvSpPr>
          <p:cNvPr id="10" name="Text 8"/>
          <p:cNvSpPr/>
          <p:nvPr/>
        </p:nvSpPr>
        <p:spPr>
          <a:xfrm>
            <a:off x="1005840" y="2377440"/>
            <a:ext cx="2926080" cy="155448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Each timestamp is one token.</a:t>
            </a:r>
            <a:endParaRPr lang="en-US" sz="1350" dirty="0"/>
          </a:p>
        </p:txBody>
      </p:sp>
      <p:sp>
        <p:nvSpPr>
          <p:cNvPr id="11" name="Text 9"/>
          <p:cNvSpPr/>
          <p:nvPr/>
        </p:nvSpPr>
        <p:spPr>
          <a:xfrm>
            <a:off x="1005840" y="4160520"/>
            <a:ext cx="2926080" cy="502920"/>
          </a:xfrm>
          <a:prstGeom prst="rect">
            <a:avLst/>
          </a:prstGeom>
          <a:noFill/>
          <a:ln/>
        </p:spPr>
        <p:txBody>
          <a:bodyPr wrap="square" lIns="0" tIns="0" rIns="0" bIns="0" rtlCol="0" anchor="ctr"/>
          <a:lstStyle/>
          <a:p>
            <a:pPr indent="0" marL="0">
              <a:buNone/>
            </a:pPr>
            <a:r>
              <a:rPr lang="en-US" sz="1150" b="1" dirty="0">
                <a:solidFill>
                  <a:srgbClr val="5A6B7B"/>
                </a:solidFill>
                <a:latin typeface="Calibri" pitchFamily="34" charset="0"/>
                <a:ea typeface="Calibri" pitchFamily="34" charset="-122"/>
                <a:cs typeface="Calibri" pitchFamily="34" charset="-120"/>
              </a:rPr>
              <a:t>USED BY  </a:t>
            </a:r>
            <a:pPr indent="0" marL="0">
              <a:buNone/>
            </a:pPr>
            <a:r>
              <a:rPr lang="en-US" sz="1150" b="1" dirty="0">
                <a:solidFill>
                  <a:srgbClr val="13315C"/>
                </a:solidFill>
                <a:latin typeface="Calibri" pitchFamily="34" charset="0"/>
                <a:ea typeface="Calibri" pitchFamily="34" charset="-122"/>
                <a:cs typeface="Calibri" pitchFamily="34" charset="-120"/>
              </a:rPr>
              <a:t>Time-MoE</a:t>
            </a:r>
            <a:endParaRPr lang="en-US" sz="1150" dirty="0"/>
          </a:p>
        </p:txBody>
      </p:sp>
      <p:sp>
        <p:nvSpPr>
          <p:cNvPr id="12" name="Shape 10"/>
          <p:cNvSpPr/>
          <p:nvPr/>
        </p:nvSpPr>
        <p:spPr>
          <a:xfrm>
            <a:off x="4389120" y="1645920"/>
            <a:ext cx="3337560" cy="3200400"/>
          </a:xfrm>
          <a:prstGeom prst="roundRect">
            <a:avLst>
              <a:gd name="adj" fmla="val 1714"/>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13" name="Shape 11"/>
          <p:cNvSpPr/>
          <p:nvPr/>
        </p:nvSpPr>
        <p:spPr>
          <a:xfrm>
            <a:off x="4389120" y="1645920"/>
            <a:ext cx="3337560" cy="109728"/>
          </a:xfrm>
          <a:prstGeom prst="rect">
            <a:avLst/>
          </a:prstGeom>
          <a:solidFill>
            <a:srgbClr val="0FB5A8"/>
          </a:solidFill>
          <a:ln/>
        </p:spPr>
      </p:sp>
      <p:sp>
        <p:nvSpPr>
          <p:cNvPr id="14" name="Text 12"/>
          <p:cNvSpPr/>
          <p:nvPr/>
        </p:nvSpPr>
        <p:spPr>
          <a:xfrm>
            <a:off x="4617720" y="1874520"/>
            <a:ext cx="2926080" cy="457200"/>
          </a:xfrm>
          <a:prstGeom prst="rect">
            <a:avLst/>
          </a:prstGeom>
          <a:noFill/>
          <a:ln/>
        </p:spPr>
        <p:txBody>
          <a:bodyPr wrap="square" lIns="0" tIns="0" rIns="0" bIns="0" rtlCol="0" anchor="ctr"/>
          <a:lstStyle/>
          <a:p>
            <a:pPr indent="0" marL="0">
              <a:buNone/>
            </a:pPr>
            <a:r>
              <a:rPr lang="en-US" sz="1800" b="1" dirty="0">
                <a:solidFill>
                  <a:srgbClr val="0B2545"/>
                </a:solidFill>
                <a:latin typeface="Georgia" pitchFamily="34" charset="0"/>
                <a:ea typeface="Georgia" pitchFamily="34" charset="-122"/>
                <a:cs typeface="Georgia" pitchFamily="34" charset="-120"/>
              </a:rPr>
              <a:t>Patch-wise</a:t>
            </a:r>
            <a:endParaRPr lang="en-US" sz="1800" dirty="0"/>
          </a:p>
        </p:txBody>
      </p:sp>
      <p:sp>
        <p:nvSpPr>
          <p:cNvPr id="15" name="Text 13"/>
          <p:cNvSpPr/>
          <p:nvPr/>
        </p:nvSpPr>
        <p:spPr>
          <a:xfrm>
            <a:off x="4617720" y="2377440"/>
            <a:ext cx="2926080" cy="155448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Slice into short fixed windows; each window is a token. Most popular choice.</a:t>
            </a:r>
            <a:endParaRPr lang="en-US" sz="1350" dirty="0"/>
          </a:p>
        </p:txBody>
      </p:sp>
      <p:sp>
        <p:nvSpPr>
          <p:cNvPr id="16" name="Text 14"/>
          <p:cNvSpPr/>
          <p:nvPr/>
        </p:nvSpPr>
        <p:spPr>
          <a:xfrm>
            <a:off x="4617720" y="4160520"/>
            <a:ext cx="2926080" cy="502920"/>
          </a:xfrm>
          <a:prstGeom prst="rect">
            <a:avLst/>
          </a:prstGeom>
          <a:noFill/>
          <a:ln/>
        </p:spPr>
        <p:txBody>
          <a:bodyPr wrap="square" lIns="0" tIns="0" rIns="0" bIns="0" rtlCol="0" anchor="ctr"/>
          <a:lstStyle/>
          <a:p>
            <a:pPr indent="0" marL="0">
              <a:buNone/>
            </a:pPr>
            <a:r>
              <a:rPr lang="en-US" sz="1150" b="1" dirty="0">
                <a:solidFill>
                  <a:srgbClr val="5A6B7B"/>
                </a:solidFill>
                <a:latin typeface="Calibri" pitchFamily="34" charset="0"/>
                <a:ea typeface="Calibri" pitchFamily="34" charset="-122"/>
                <a:cs typeface="Calibri" pitchFamily="34" charset="-120"/>
              </a:rPr>
              <a:t>USED BY  </a:t>
            </a:r>
            <a:pPr indent="0" marL="0">
              <a:buNone/>
            </a:pPr>
            <a:r>
              <a:rPr lang="en-US" sz="1150" b="1" dirty="0">
                <a:solidFill>
                  <a:srgbClr val="0FB5A8"/>
                </a:solidFill>
                <a:latin typeface="Calibri" pitchFamily="34" charset="0"/>
                <a:ea typeface="Calibri" pitchFamily="34" charset="-122"/>
                <a:cs typeface="Calibri" pitchFamily="34" charset="-120"/>
              </a:rPr>
              <a:t>TimesFM · Moirai · MOMENT</a:t>
            </a:r>
            <a:endParaRPr lang="en-US" sz="1150" dirty="0"/>
          </a:p>
        </p:txBody>
      </p:sp>
      <p:sp>
        <p:nvSpPr>
          <p:cNvPr id="17" name="Shape 15"/>
          <p:cNvSpPr/>
          <p:nvPr/>
        </p:nvSpPr>
        <p:spPr>
          <a:xfrm>
            <a:off x="8001000" y="1645920"/>
            <a:ext cx="3337560" cy="3200400"/>
          </a:xfrm>
          <a:prstGeom prst="roundRect">
            <a:avLst>
              <a:gd name="adj" fmla="val 1714"/>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18" name="Shape 16"/>
          <p:cNvSpPr/>
          <p:nvPr/>
        </p:nvSpPr>
        <p:spPr>
          <a:xfrm>
            <a:off x="8001000" y="1645920"/>
            <a:ext cx="3337560" cy="109728"/>
          </a:xfrm>
          <a:prstGeom prst="rect">
            <a:avLst/>
          </a:prstGeom>
          <a:solidFill>
            <a:srgbClr val="EF6F6C"/>
          </a:solidFill>
          <a:ln/>
        </p:spPr>
      </p:sp>
      <p:sp>
        <p:nvSpPr>
          <p:cNvPr id="19" name="Text 17"/>
          <p:cNvSpPr/>
          <p:nvPr/>
        </p:nvSpPr>
        <p:spPr>
          <a:xfrm>
            <a:off x="8229600" y="1874520"/>
            <a:ext cx="2926080" cy="457200"/>
          </a:xfrm>
          <a:prstGeom prst="rect">
            <a:avLst/>
          </a:prstGeom>
          <a:noFill/>
          <a:ln/>
        </p:spPr>
        <p:txBody>
          <a:bodyPr wrap="square" lIns="0" tIns="0" rIns="0" bIns="0" rtlCol="0" anchor="ctr"/>
          <a:lstStyle/>
          <a:p>
            <a:pPr indent="0" marL="0">
              <a:buNone/>
            </a:pPr>
            <a:r>
              <a:rPr lang="en-US" sz="1800" b="1" dirty="0">
                <a:solidFill>
                  <a:srgbClr val="0B2545"/>
                </a:solidFill>
                <a:latin typeface="Georgia" pitchFamily="34" charset="0"/>
                <a:ea typeface="Georgia" pitchFamily="34" charset="-122"/>
                <a:cs typeface="Georgia" pitchFamily="34" charset="-120"/>
              </a:rPr>
              <a:t>Quantization-wise</a:t>
            </a:r>
            <a:endParaRPr lang="en-US" sz="1800" dirty="0"/>
          </a:p>
        </p:txBody>
      </p:sp>
      <p:sp>
        <p:nvSpPr>
          <p:cNvPr id="20" name="Text 18"/>
          <p:cNvSpPr/>
          <p:nvPr/>
        </p:nvSpPr>
        <p:spPr>
          <a:xfrm>
            <a:off x="8229600" y="2377440"/>
            <a:ext cx="2926080" cy="155448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Scale values and bin them into a fixed vocabulary — like words.</a:t>
            </a:r>
            <a:endParaRPr lang="en-US" sz="1350" dirty="0"/>
          </a:p>
        </p:txBody>
      </p:sp>
      <p:sp>
        <p:nvSpPr>
          <p:cNvPr id="21" name="Text 19"/>
          <p:cNvSpPr/>
          <p:nvPr/>
        </p:nvSpPr>
        <p:spPr>
          <a:xfrm>
            <a:off x="8229600" y="4160520"/>
            <a:ext cx="2926080" cy="502920"/>
          </a:xfrm>
          <a:prstGeom prst="rect">
            <a:avLst/>
          </a:prstGeom>
          <a:noFill/>
          <a:ln/>
        </p:spPr>
        <p:txBody>
          <a:bodyPr wrap="square" lIns="0" tIns="0" rIns="0" bIns="0" rtlCol="0" anchor="ctr"/>
          <a:lstStyle/>
          <a:p>
            <a:pPr indent="0" marL="0">
              <a:buNone/>
            </a:pPr>
            <a:r>
              <a:rPr lang="en-US" sz="1150" b="1" dirty="0">
                <a:solidFill>
                  <a:srgbClr val="5A6B7B"/>
                </a:solidFill>
                <a:latin typeface="Calibri" pitchFamily="34" charset="0"/>
                <a:ea typeface="Calibri" pitchFamily="34" charset="-122"/>
                <a:cs typeface="Calibri" pitchFamily="34" charset="-120"/>
              </a:rPr>
              <a:t>USED BY  </a:t>
            </a:r>
            <a:pPr indent="0" marL="0">
              <a:buNone/>
            </a:pPr>
            <a:r>
              <a:rPr lang="en-US" sz="1150" b="1" dirty="0">
                <a:solidFill>
                  <a:srgbClr val="EF6F6C"/>
                </a:solidFill>
                <a:latin typeface="Calibri" pitchFamily="34" charset="0"/>
                <a:ea typeface="Calibri" pitchFamily="34" charset="-122"/>
                <a:cs typeface="Calibri" pitchFamily="34" charset="-120"/>
              </a:rPr>
              <a:t>Chronos</a:t>
            </a:r>
            <a:endParaRPr lang="en-US" sz="1150" dirty="0"/>
          </a:p>
        </p:txBody>
      </p:sp>
      <p:sp>
        <p:nvSpPr>
          <p:cNvPr id="22" name="Text 20"/>
          <p:cNvSpPr/>
          <p:nvPr/>
        </p:nvSpPr>
        <p:spPr>
          <a:xfrm>
            <a:off x="777240" y="5166360"/>
            <a:ext cx="10607040" cy="640080"/>
          </a:xfrm>
          <a:prstGeom prst="rect">
            <a:avLst/>
          </a:prstGeom>
          <a:noFill/>
          <a:ln/>
        </p:spPr>
        <p:txBody>
          <a:bodyPr wrap="square" lIns="0" tIns="0" rIns="0" bIns="0" rtlCol="0" anchor="ctr"/>
          <a:lstStyle/>
          <a:p>
            <a:pPr indent="0" marL="0">
              <a:buNone/>
            </a:pPr>
            <a:r>
              <a:rPr lang="en-US" sz="1400" i="1" dirty="0">
                <a:solidFill>
                  <a:srgbClr val="0B2545"/>
                </a:solidFill>
                <a:latin typeface="Calibri" pitchFamily="34" charset="0"/>
                <a:ea typeface="Calibri" pitchFamily="34" charset="-122"/>
                <a:cs typeface="Calibri" pitchFamily="34" charset="-120"/>
              </a:rPr>
              <a:t>A second hidden choice:  channel independence  vs  channel mixing  — Moirai's “any-variate attention” handles any number of channels.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02920" y="457200"/>
            <a:ext cx="201168" cy="201168"/>
          </a:xfrm>
          <a:prstGeom prst="rect">
            <a:avLst/>
          </a:prstGeom>
          <a:solidFill>
            <a:srgbClr val="0FB5A8"/>
          </a:solidFill>
          <a:ln/>
        </p:spPr>
      </p:sp>
      <p:sp>
        <p:nvSpPr>
          <p:cNvPr id="3" name="Text 1"/>
          <p:cNvSpPr/>
          <p:nvPr/>
        </p:nvSpPr>
        <p:spPr>
          <a:xfrm>
            <a:off x="822960" y="365760"/>
            <a:ext cx="10789920" cy="292608"/>
          </a:xfrm>
          <a:prstGeom prst="rect">
            <a:avLst/>
          </a:prstGeom>
          <a:noFill/>
          <a:ln/>
        </p:spPr>
        <p:txBody>
          <a:bodyPr wrap="square" lIns="0" tIns="0" rIns="0" bIns="0" rtlCol="0" anchor="ctr"/>
          <a:lstStyle/>
          <a:p>
            <a:pPr indent="0" marL="0">
              <a:buNone/>
            </a:pPr>
            <a:r>
              <a:rPr lang="en-US" sz="1200" b="1" spc="300" kern="0" dirty="0">
                <a:solidFill>
                  <a:srgbClr val="0FB5A8"/>
                </a:solidFill>
                <a:latin typeface="Calibri" pitchFamily="34" charset="0"/>
                <a:ea typeface="Calibri" pitchFamily="34" charset="-122"/>
                <a:cs typeface="Calibri" pitchFamily="34" charset="-120"/>
              </a:rPr>
              <a:t>CHALLENGE 3 · ARCHITECTURE</a:t>
            </a:r>
            <a:endParaRPr lang="en-US" sz="1200" dirty="0"/>
          </a:p>
        </p:txBody>
      </p:sp>
      <p:sp>
        <p:nvSpPr>
          <p:cNvPr id="4" name="Text 2"/>
          <p:cNvSpPr/>
          <p:nvPr/>
        </p:nvSpPr>
        <p:spPr>
          <a:xfrm>
            <a:off x="777240" y="603504"/>
            <a:ext cx="10881360" cy="777240"/>
          </a:xfrm>
          <a:prstGeom prst="rect">
            <a:avLst/>
          </a:prstGeom>
          <a:noFill/>
          <a:ln/>
        </p:spPr>
        <p:txBody>
          <a:bodyPr wrap="square" lIns="0" tIns="0" rIns="0" bIns="0" rtlCol="0" anchor="ctr"/>
          <a:lstStyle/>
          <a:p>
            <a:pPr indent="0" marL="0">
              <a:buNone/>
            </a:pPr>
            <a:r>
              <a:rPr lang="en-US" sz="3000" b="1" dirty="0">
                <a:solidFill>
                  <a:srgbClr val="0B2545"/>
                </a:solidFill>
                <a:latin typeface="Georgia" pitchFamily="34" charset="0"/>
                <a:ea typeface="Georgia" pitchFamily="34" charset="-122"/>
                <a:cs typeface="Georgia" pitchFamily="34" charset="-120"/>
              </a:rPr>
              <a:t>Three Transformer backbone families</a:t>
            </a:r>
            <a:endParaRPr lang="en-US" sz="3000" dirty="0"/>
          </a:p>
        </p:txBody>
      </p:sp>
      <p:sp>
        <p:nvSpPr>
          <p:cNvPr id="5" name="Text 3"/>
          <p:cNvSpPr/>
          <p:nvPr/>
        </p:nvSpPr>
        <p:spPr>
          <a:xfrm>
            <a:off x="502920" y="6437376"/>
            <a:ext cx="7315200" cy="274320"/>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Time-Series Foundation Models  ·  CMPE 258 Short Story</a:t>
            </a:r>
            <a:endParaRPr lang="en-US" sz="900" dirty="0"/>
          </a:p>
        </p:txBody>
      </p:sp>
      <p:sp>
        <p:nvSpPr>
          <p:cNvPr id="6" name="Text 4"/>
          <p:cNvSpPr/>
          <p:nvPr/>
        </p:nvSpPr>
        <p:spPr>
          <a:xfrm>
            <a:off x="11338560" y="6437376"/>
            <a:ext cx="365760" cy="274320"/>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7</a:t>
            </a:r>
            <a:endParaRPr lang="en-US" sz="900" dirty="0"/>
          </a:p>
        </p:txBody>
      </p:sp>
      <p:pic>
        <p:nvPicPr>
          <p:cNvPr id="7" name="Image 0" descr="../medium_article/images/fig4_architectures.png">    </p:cNvPr>
          <p:cNvPicPr>
            <a:picLocks noChangeAspect="1"/>
          </p:cNvPicPr>
          <p:nvPr/>
        </p:nvPicPr>
        <p:blipFill>
          <a:blip r:embed="rId1"/>
          <a:stretch>
            <a:fillRect/>
          </a:stretch>
        </p:blipFill>
        <p:spPr>
          <a:xfrm>
            <a:off x="1551760" y="1417320"/>
            <a:ext cx="9058001" cy="3063240"/>
          </a:xfrm>
          <a:prstGeom prst="rect">
            <a:avLst/>
          </a:prstGeom>
        </p:spPr>
      </p:pic>
      <p:sp>
        <p:nvSpPr>
          <p:cNvPr id="8" name="Shape 5"/>
          <p:cNvSpPr/>
          <p:nvPr/>
        </p:nvSpPr>
        <p:spPr>
          <a:xfrm>
            <a:off x="777240" y="4617720"/>
            <a:ext cx="10607040" cy="1417320"/>
          </a:xfrm>
          <a:prstGeom prst="roundRect">
            <a:avLst>
              <a:gd name="adj" fmla="val 3871"/>
            </a:avLst>
          </a:prstGeom>
          <a:solidFill>
            <a:srgbClr val="0B2545"/>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9" name="Text 6"/>
          <p:cNvSpPr/>
          <p:nvPr/>
        </p:nvSpPr>
        <p:spPr>
          <a:xfrm>
            <a:off x="1051560" y="4800600"/>
            <a:ext cx="10058400" cy="50292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The pattern across all three surveys:  </a:t>
            </a:r>
            <a:pPr indent="0" marL="0">
              <a:buNone/>
            </a:pPr>
            <a:r>
              <a:rPr lang="en-US" sz="1500" b="1" dirty="0">
                <a:solidFill>
                  <a:srgbClr val="FFFFFF"/>
                </a:solidFill>
                <a:latin typeface="Calibri" pitchFamily="34" charset="0"/>
                <a:ea typeface="Calibri" pitchFamily="34" charset="-122"/>
                <a:cs typeface="Calibri" pitchFamily="34" charset="-120"/>
              </a:rPr>
              <a:t>decoder-only for forecasting,  encoder-only for representation &amp; multi-task work.</a:t>
            </a:r>
            <a:endParaRPr lang="en-US" sz="1500" dirty="0"/>
          </a:p>
        </p:txBody>
      </p:sp>
      <p:sp>
        <p:nvSpPr>
          <p:cNvPr id="10" name="Text 7"/>
          <p:cNvSpPr/>
          <p:nvPr/>
        </p:nvSpPr>
        <p:spPr>
          <a:xfrm>
            <a:off x="1051560" y="5303520"/>
            <a:ext cx="10058400" cy="640080"/>
          </a:xfrm>
          <a:prstGeom prst="rect">
            <a:avLst/>
          </a:prstGeom>
          <a:noFill/>
          <a:ln/>
        </p:spPr>
        <p:txBody>
          <a:bodyPr wrap="square" lIns="0" tIns="0" rIns="0" bIns="0" rtlCol="0" anchor="ctr"/>
          <a:lstStyle/>
          <a:p>
            <a:pPr indent="0" marL="0">
              <a:buNone/>
            </a:pPr>
            <a:r>
              <a:rPr lang="en-US" sz="1250" dirty="0">
                <a:solidFill>
                  <a:srgbClr val="9DB2C9"/>
                </a:solidFill>
                <a:latin typeface="Calibri" pitchFamily="34" charset="0"/>
                <a:ea typeface="Calibri" pitchFamily="34" charset="-122"/>
                <a:cs typeface="Calibri" pitchFamily="34" charset="-120"/>
              </a:rPr>
              <a:t>It is no accident that the largest TSFMs — Time-MoE, TimesFM — are decoder-only. Chronos is encoder-decoder because it reuses Google's T5 text model almost unchanged.</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02920" y="457200"/>
            <a:ext cx="201168" cy="201168"/>
          </a:xfrm>
          <a:prstGeom prst="rect">
            <a:avLst/>
          </a:prstGeom>
          <a:solidFill>
            <a:srgbClr val="0FB5A8"/>
          </a:solidFill>
          <a:ln/>
        </p:spPr>
      </p:sp>
      <p:sp>
        <p:nvSpPr>
          <p:cNvPr id="3" name="Text 1"/>
          <p:cNvSpPr/>
          <p:nvPr/>
        </p:nvSpPr>
        <p:spPr>
          <a:xfrm>
            <a:off x="822960" y="365760"/>
            <a:ext cx="10789920" cy="292608"/>
          </a:xfrm>
          <a:prstGeom prst="rect">
            <a:avLst/>
          </a:prstGeom>
          <a:noFill/>
          <a:ln/>
        </p:spPr>
        <p:txBody>
          <a:bodyPr wrap="square" lIns="0" tIns="0" rIns="0" bIns="0" rtlCol="0" anchor="ctr"/>
          <a:lstStyle/>
          <a:p>
            <a:pPr indent="0" marL="0">
              <a:buNone/>
            </a:pPr>
            <a:r>
              <a:rPr lang="en-US" sz="1200" b="1" spc="300" kern="0" dirty="0">
                <a:solidFill>
                  <a:srgbClr val="0FB5A8"/>
                </a:solidFill>
                <a:latin typeface="Calibri" pitchFamily="34" charset="0"/>
                <a:ea typeface="Calibri" pitchFamily="34" charset="-122"/>
                <a:cs typeface="Calibri" pitchFamily="34" charset="-120"/>
              </a:rPr>
              <a:t>LANDSCAPE</a:t>
            </a:r>
            <a:endParaRPr lang="en-US" sz="1200" dirty="0"/>
          </a:p>
        </p:txBody>
      </p:sp>
      <p:sp>
        <p:nvSpPr>
          <p:cNvPr id="4" name="Text 2"/>
          <p:cNvSpPr/>
          <p:nvPr/>
        </p:nvSpPr>
        <p:spPr>
          <a:xfrm>
            <a:off x="777240" y="603504"/>
            <a:ext cx="10881360" cy="777240"/>
          </a:xfrm>
          <a:prstGeom prst="rect">
            <a:avLst/>
          </a:prstGeom>
          <a:noFill/>
          <a:ln/>
        </p:spPr>
        <p:txBody>
          <a:bodyPr wrap="square" lIns="0" tIns="0" rIns="0" bIns="0" rtlCol="0" anchor="ctr"/>
          <a:lstStyle/>
          <a:p>
            <a:pPr indent="0" marL="0">
              <a:buNone/>
            </a:pPr>
            <a:r>
              <a:rPr lang="en-US" sz="3000" b="1" dirty="0">
                <a:solidFill>
                  <a:srgbClr val="0B2545"/>
                </a:solidFill>
                <a:latin typeface="Georgia" pitchFamily="34" charset="0"/>
                <a:ea typeface="Georgia" pitchFamily="34" charset="-122"/>
                <a:cs typeface="Georgia" pitchFamily="34" charset="-120"/>
              </a:rPr>
              <a:t>The model boom: ~100 models in two years</a:t>
            </a:r>
            <a:endParaRPr lang="en-US" sz="3000" dirty="0"/>
          </a:p>
        </p:txBody>
      </p:sp>
      <p:sp>
        <p:nvSpPr>
          <p:cNvPr id="5" name="Text 3"/>
          <p:cNvSpPr/>
          <p:nvPr/>
        </p:nvSpPr>
        <p:spPr>
          <a:xfrm>
            <a:off x="502920" y="6437376"/>
            <a:ext cx="7315200" cy="274320"/>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Time-Series Foundation Models  ·  CMPE 258 Short Story</a:t>
            </a:r>
            <a:endParaRPr lang="en-US" sz="900" dirty="0"/>
          </a:p>
        </p:txBody>
      </p:sp>
      <p:sp>
        <p:nvSpPr>
          <p:cNvPr id="6" name="Text 4"/>
          <p:cNvSpPr/>
          <p:nvPr/>
        </p:nvSpPr>
        <p:spPr>
          <a:xfrm>
            <a:off x="11338560" y="6437376"/>
            <a:ext cx="365760" cy="274320"/>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8</a:t>
            </a:r>
            <a:endParaRPr lang="en-US" sz="900" dirty="0"/>
          </a:p>
        </p:txBody>
      </p:sp>
      <p:pic>
        <p:nvPicPr>
          <p:cNvPr id="7" name="Image 0" descr="../medium_article/images/fig3_timeline.png">    </p:cNvPr>
          <p:cNvPicPr>
            <a:picLocks noChangeAspect="1"/>
          </p:cNvPicPr>
          <p:nvPr/>
        </p:nvPicPr>
        <p:blipFill>
          <a:blip r:embed="rId1"/>
          <a:stretch>
            <a:fillRect/>
          </a:stretch>
        </p:blipFill>
        <p:spPr>
          <a:xfrm>
            <a:off x="777240" y="1794684"/>
            <a:ext cx="7589520" cy="3725832"/>
          </a:xfrm>
          <a:prstGeom prst="rect">
            <a:avLst/>
          </a:prstGeom>
        </p:spPr>
      </p:pic>
      <p:sp>
        <p:nvSpPr>
          <p:cNvPr id="8" name="Shape 5"/>
          <p:cNvSpPr/>
          <p:nvPr/>
        </p:nvSpPr>
        <p:spPr>
          <a:xfrm>
            <a:off x="8595360" y="1508760"/>
            <a:ext cx="2971800" cy="4434840"/>
          </a:xfrm>
          <a:prstGeom prst="roundRect">
            <a:avLst>
              <a:gd name="adj" fmla="val 1846"/>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9" name="Text 6"/>
          <p:cNvSpPr/>
          <p:nvPr/>
        </p:nvSpPr>
        <p:spPr>
          <a:xfrm>
            <a:off x="8823960" y="1691640"/>
            <a:ext cx="2560320" cy="365760"/>
          </a:xfrm>
          <a:prstGeom prst="rect">
            <a:avLst/>
          </a:prstGeom>
          <a:noFill/>
          <a:ln/>
        </p:spPr>
        <p:txBody>
          <a:bodyPr wrap="square" lIns="0" tIns="0" rIns="0" bIns="0" rtlCol="0" anchor="ctr"/>
          <a:lstStyle/>
          <a:p>
            <a:pPr indent="0" marL="0">
              <a:buNone/>
            </a:pPr>
            <a:r>
              <a:rPr lang="en-US" sz="1600" b="1" dirty="0">
                <a:solidFill>
                  <a:srgbClr val="0B2545"/>
                </a:solidFill>
                <a:latin typeface="Georgia" pitchFamily="34" charset="0"/>
                <a:ea typeface="Georgia" pitchFamily="34" charset="-122"/>
                <a:cs typeface="Georgia" pitchFamily="34" charset="-120"/>
              </a:rPr>
              <a:t>What stands out</a:t>
            </a:r>
            <a:endParaRPr lang="en-US" sz="1600" dirty="0"/>
          </a:p>
        </p:txBody>
      </p:sp>
      <p:sp>
        <p:nvSpPr>
          <p:cNvPr id="10" name="Shape 7"/>
          <p:cNvSpPr/>
          <p:nvPr/>
        </p:nvSpPr>
        <p:spPr>
          <a:xfrm>
            <a:off x="8823960" y="2185416"/>
            <a:ext cx="128016" cy="128016"/>
          </a:xfrm>
          <a:prstGeom prst="rect">
            <a:avLst/>
          </a:prstGeom>
          <a:solidFill>
            <a:srgbClr val="0FB5A8"/>
          </a:solidFill>
          <a:ln/>
        </p:spPr>
      </p:sp>
      <p:sp>
        <p:nvSpPr>
          <p:cNvPr id="11" name="Text 8"/>
          <p:cNvSpPr/>
          <p:nvPr/>
        </p:nvSpPr>
        <p:spPr>
          <a:xfrm>
            <a:off x="9052560" y="2103120"/>
            <a:ext cx="2331720" cy="32004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Scale jump</a:t>
            </a:r>
            <a:endParaRPr lang="en-US" sz="1300" dirty="0"/>
          </a:p>
        </p:txBody>
      </p:sp>
      <p:sp>
        <p:nvSpPr>
          <p:cNvPr id="12" name="Text 9"/>
          <p:cNvSpPr/>
          <p:nvPr/>
        </p:nvSpPr>
        <p:spPr>
          <a:xfrm>
            <a:off x="8823960" y="2423160"/>
            <a:ext cx="2560320" cy="868680"/>
          </a:xfrm>
          <a:prstGeom prst="rect">
            <a:avLst/>
          </a:prstGeom>
          <a:noFill/>
          <a:ln/>
        </p:spPr>
        <p:txBody>
          <a:bodyPr wrap="square" lIns="0" tIns="0" rIns="0" bIns="0" rtlCol="0" anchor="ctr"/>
          <a:lstStyle/>
          <a:p>
            <a:pPr indent="0" marL="0">
              <a:buNone/>
            </a:pPr>
            <a:r>
              <a:rPr lang="en-US" sz="1150" dirty="0">
                <a:solidFill>
                  <a:srgbClr val="1B2A3A"/>
                </a:solidFill>
                <a:latin typeface="Calibri" pitchFamily="34" charset="0"/>
                <a:ea typeface="Calibri" pitchFamily="34" charset="-122"/>
                <a:cs typeface="Calibri" pitchFamily="34" charset="-120"/>
              </a:rPr>
              <a:t>67M → 2.4B parameters in under a year.</a:t>
            </a:r>
            <a:endParaRPr lang="en-US" sz="1150" dirty="0"/>
          </a:p>
        </p:txBody>
      </p:sp>
      <p:sp>
        <p:nvSpPr>
          <p:cNvPr id="13" name="Shape 10"/>
          <p:cNvSpPr/>
          <p:nvPr/>
        </p:nvSpPr>
        <p:spPr>
          <a:xfrm>
            <a:off x="8823960" y="3419856"/>
            <a:ext cx="128016" cy="128016"/>
          </a:xfrm>
          <a:prstGeom prst="rect">
            <a:avLst/>
          </a:prstGeom>
          <a:solidFill>
            <a:srgbClr val="0FB5A8"/>
          </a:solidFill>
          <a:ln/>
        </p:spPr>
      </p:sp>
      <p:sp>
        <p:nvSpPr>
          <p:cNvPr id="14" name="Text 11"/>
          <p:cNvSpPr/>
          <p:nvPr/>
        </p:nvSpPr>
        <p:spPr>
          <a:xfrm>
            <a:off x="9052560" y="3337560"/>
            <a:ext cx="2331720" cy="32004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Vendor land-grab</a:t>
            </a:r>
            <a:endParaRPr lang="en-US" sz="1300" dirty="0"/>
          </a:p>
        </p:txBody>
      </p:sp>
      <p:sp>
        <p:nvSpPr>
          <p:cNvPr id="15" name="Text 12"/>
          <p:cNvSpPr/>
          <p:nvPr/>
        </p:nvSpPr>
        <p:spPr>
          <a:xfrm>
            <a:off x="8823960" y="3657600"/>
            <a:ext cx="2560320" cy="868680"/>
          </a:xfrm>
          <a:prstGeom prst="rect">
            <a:avLst/>
          </a:prstGeom>
          <a:noFill/>
          <a:ln/>
        </p:spPr>
        <p:txBody>
          <a:bodyPr wrap="square" lIns="0" tIns="0" rIns="0" bIns="0" rtlCol="0" anchor="ctr"/>
          <a:lstStyle/>
          <a:p>
            <a:pPr indent="0" marL="0">
              <a:buNone/>
            </a:pPr>
            <a:r>
              <a:rPr lang="en-US" sz="1150" dirty="0">
                <a:solidFill>
                  <a:srgbClr val="1B2A3A"/>
                </a:solidFill>
                <a:latin typeface="Calibri" pitchFamily="34" charset="0"/>
                <a:ea typeface="Calibri" pitchFamily="34" charset="-122"/>
                <a:cs typeface="Calibri" pitchFamily="34" charset="-120"/>
              </a:rPr>
              <a:t>Google, Amazon, Salesforce, Nixtla, IBM, Tsinghua.</a:t>
            </a:r>
            <a:endParaRPr lang="en-US" sz="1150" dirty="0"/>
          </a:p>
        </p:txBody>
      </p:sp>
      <p:sp>
        <p:nvSpPr>
          <p:cNvPr id="16" name="Shape 13"/>
          <p:cNvSpPr/>
          <p:nvPr/>
        </p:nvSpPr>
        <p:spPr>
          <a:xfrm>
            <a:off x="8823960" y="4654296"/>
            <a:ext cx="128016" cy="128016"/>
          </a:xfrm>
          <a:prstGeom prst="rect">
            <a:avLst/>
          </a:prstGeom>
          <a:solidFill>
            <a:srgbClr val="0FB5A8"/>
          </a:solidFill>
          <a:ln/>
        </p:spPr>
      </p:sp>
      <p:sp>
        <p:nvSpPr>
          <p:cNvPr id="17" name="Text 14"/>
          <p:cNvSpPr/>
          <p:nvPr/>
        </p:nvSpPr>
        <p:spPr>
          <a:xfrm>
            <a:off x="9052560" y="4572000"/>
            <a:ext cx="2331720" cy="32004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Bigger ≠ better</a:t>
            </a:r>
            <a:endParaRPr lang="en-US" sz="1300" dirty="0"/>
          </a:p>
        </p:txBody>
      </p:sp>
      <p:sp>
        <p:nvSpPr>
          <p:cNvPr id="18" name="Text 15"/>
          <p:cNvSpPr/>
          <p:nvPr/>
        </p:nvSpPr>
        <p:spPr>
          <a:xfrm>
            <a:off x="8823960" y="4892040"/>
            <a:ext cx="2560320" cy="868680"/>
          </a:xfrm>
          <a:prstGeom prst="rect">
            <a:avLst/>
          </a:prstGeom>
          <a:noFill/>
          <a:ln/>
        </p:spPr>
        <p:txBody>
          <a:bodyPr wrap="square" lIns="0" tIns="0" rIns="0" bIns="0" rtlCol="0" anchor="ctr"/>
          <a:lstStyle/>
          <a:p>
            <a:pPr indent="0" marL="0">
              <a:buNone/>
            </a:pPr>
            <a:r>
              <a:rPr lang="en-US" sz="1150" dirty="0">
                <a:solidFill>
                  <a:srgbClr val="1B2A3A"/>
                </a:solidFill>
                <a:latin typeface="Calibri" pitchFamily="34" charset="0"/>
                <a:ea typeface="Calibri" pitchFamily="34" charset="-122"/>
                <a:cs typeface="Calibri" pitchFamily="34" charset="-120"/>
              </a:rPr>
              <a:t>IBM's Tiny Time Mixers (~1M params) competes — lightweight design is a real research track.</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02920" y="457200"/>
            <a:ext cx="201168" cy="201168"/>
          </a:xfrm>
          <a:prstGeom prst="rect">
            <a:avLst/>
          </a:prstGeom>
          <a:solidFill>
            <a:srgbClr val="0FB5A8"/>
          </a:solidFill>
          <a:ln/>
        </p:spPr>
      </p:sp>
      <p:sp>
        <p:nvSpPr>
          <p:cNvPr id="3" name="Text 1"/>
          <p:cNvSpPr/>
          <p:nvPr/>
        </p:nvSpPr>
        <p:spPr>
          <a:xfrm>
            <a:off x="822960" y="365760"/>
            <a:ext cx="10789920" cy="292608"/>
          </a:xfrm>
          <a:prstGeom prst="rect">
            <a:avLst/>
          </a:prstGeom>
          <a:noFill/>
          <a:ln/>
        </p:spPr>
        <p:txBody>
          <a:bodyPr wrap="square" lIns="0" tIns="0" rIns="0" bIns="0" rtlCol="0" anchor="ctr"/>
          <a:lstStyle/>
          <a:p>
            <a:pPr indent="0" marL="0">
              <a:buNone/>
            </a:pPr>
            <a:r>
              <a:rPr lang="en-US" sz="1200" b="1" spc="300" kern="0" dirty="0">
                <a:solidFill>
                  <a:srgbClr val="0FB5A8"/>
                </a:solidFill>
                <a:latin typeface="Calibri" pitchFamily="34" charset="0"/>
                <a:ea typeface="Calibri" pitchFamily="34" charset="-122"/>
                <a:cs typeface="Calibri" pitchFamily="34" charset="-120"/>
              </a:rPr>
              <a:t>REFERENCE</a:t>
            </a:r>
            <a:endParaRPr lang="en-US" sz="1200" dirty="0"/>
          </a:p>
        </p:txBody>
      </p:sp>
      <p:sp>
        <p:nvSpPr>
          <p:cNvPr id="4" name="Text 2"/>
          <p:cNvSpPr/>
          <p:nvPr/>
        </p:nvSpPr>
        <p:spPr>
          <a:xfrm>
            <a:off x="777240" y="603504"/>
            <a:ext cx="10881360" cy="777240"/>
          </a:xfrm>
          <a:prstGeom prst="rect">
            <a:avLst/>
          </a:prstGeom>
          <a:noFill/>
          <a:ln/>
        </p:spPr>
        <p:txBody>
          <a:bodyPr wrap="square" lIns="0" tIns="0" rIns="0" bIns="0" rtlCol="0" anchor="ctr"/>
          <a:lstStyle/>
          <a:p>
            <a:pPr indent="0" marL="0">
              <a:buNone/>
            </a:pPr>
            <a:r>
              <a:rPr lang="en-US" sz="3000" b="1" dirty="0">
                <a:solidFill>
                  <a:srgbClr val="0B2545"/>
                </a:solidFill>
                <a:latin typeface="Georgia" pitchFamily="34" charset="0"/>
                <a:ea typeface="Georgia" pitchFamily="34" charset="-122"/>
                <a:cs typeface="Georgia" pitchFamily="34" charset="-120"/>
              </a:rPr>
              <a:t>The headline TSFMs at a glance</a:t>
            </a:r>
            <a:endParaRPr lang="en-US" sz="3000" dirty="0"/>
          </a:p>
        </p:txBody>
      </p:sp>
      <p:sp>
        <p:nvSpPr>
          <p:cNvPr id="5" name="Text 3"/>
          <p:cNvSpPr/>
          <p:nvPr/>
        </p:nvSpPr>
        <p:spPr>
          <a:xfrm>
            <a:off x="502920" y="6437376"/>
            <a:ext cx="7315200" cy="274320"/>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Time-Series Foundation Models  ·  CMPE 258 Short Story</a:t>
            </a:r>
            <a:endParaRPr lang="en-US" sz="900" dirty="0"/>
          </a:p>
        </p:txBody>
      </p:sp>
      <p:sp>
        <p:nvSpPr>
          <p:cNvPr id="6" name="Text 4"/>
          <p:cNvSpPr/>
          <p:nvPr/>
        </p:nvSpPr>
        <p:spPr>
          <a:xfrm>
            <a:off x="11338560" y="6437376"/>
            <a:ext cx="365760" cy="274320"/>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77240" y="1600200"/>
          <a:ext cx="10607040" cy="914400"/>
        </p:xfrm>
        <a:graphic>
          <a:graphicData uri="http://schemas.openxmlformats.org/drawingml/2006/table">
            <a:tbl>
              <a:tblPr/>
              <a:tblGrid>
                <a:gridCol w="1554480"/>
                <a:gridCol w="1783080"/>
                <a:gridCol w="2286000"/>
                <a:gridCol w="1965960"/>
                <a:gridCol w="914400"/>
                <a:gridCol w="2103120"/>
              </a:tblGrid>
              <a:tr h="54864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Builder</a:t>
                      </a:r>
                      <a:endParaRPr lang="en-US" sz="13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Architecture</a:t>
                      </a:r>
                      <a:endParaRPr lang="en-US" sz="13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Tokenization</a:t>
                      </a:r>
                      <a:endParaRPr lang="en-US" sz="13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Scale</a:t>
                      </a:r>
                      <a:endParaRPr lang="en-US" sz="13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Pre-training corpus</a:t>
                      </a:r>
                      <a:endParaRPr lang="en-US" sz="13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0B2545"/>
                    </a:solidFill>
                  </a:tcPr>
                </a:tc>
              </a:tr>
              <a:tr h="548640">
                <a:tc>
                  <a:txBody>
                    <a:bodyPr/>
                    <a:lstStyle/>
                    <a:p>
                      <a:pPr algn="l" indent="0" marL="0">
                        <a:buNone/>
                      </a:pPr>
                      <a:r>
                        <a:rPr lang="en-US" sz="1200" b="1" dirty="0">
                          <a:solidFill>
                            <a:srgbClr val="0B2545"/>
                          </a:solidFill>
                          <a:latin typeface="Calibri" pitchFamily="34" charset="0"/>
                          <a:ea typeface="Calibri" pitchFamily="34" charset="-122"/>
                          <a:cs typeface="Calibri" pitchFamily="34" charset="-120"/>
                        </a:rPr>
                        <a:t>TimesFM</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Google</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Decoder-only</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Patch-wise</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200M</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~100B points</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0B2545"/>
                          </a:solidFill>
                          <a:latin typeface="Calibri" pitchFamily="34" charset="0"/>
                          <a:ea typeface="Calibri" pitchFamily="34" charset="-122"/>
                          <a:cs typeface="Calibri" pitchFamily="34" charset="-120"/>
                        </a:rPr>
                        <a:t>Chronos</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EAF0F5"/>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EAF0F5"/>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Encoder-decoder (T5)</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EAF0F5"/>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Quantization-wise</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EAF0F5"/>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710M</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EAF0F5"/>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~84B points</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EAF0F5"/>
                    </a:solidFill>
                  </a:tcPr>
                </a:tc>
              </a:tr>
              <a:tr h="548640">
                <a:tc>
                  <a:txBody>
                    <a:bodyPr/>
                    <a:lstStyle/>
                    <a:p>
                      <a:pPr algn="l" indent="0" marL="0">
                        <a:buNone/>
                      </a:pPr>
                      <a:r>
                        <a:rPr lang="en-US" sz="1200" b="1" dirty="0">
                          <a:solidFill>
                            <a:srgbClr val="0B2545"/>
                          </a:solidFill>
                          <a:latin typeface="Calibri" pitchFamily="34" charset="0"/>
                          <a:ea typeface="Calibri" pitchFamily="34" charset="-122"/>
                          <a:cs typeface="Calibri" pitchFamily="34" charset="-120"/>
                        </a:rPr>
                        <a:t>Moirai</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Salesforce</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Encoder-only</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Patch-wise</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311M</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LOTSA, 27B points</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0B2545"/>
                          </a:solidFill>
                          <a:latin typeface="Calibri" pitchFamily="34" charset="0"/>
                          <a:ea typeface="Calibri" pitchFamily="34" charset="-122"/>
                          <a:cs typeface="Calibri" pitchFamily="34" charset="-120"/>
                        </a:rPr>
                        <a:t>MOMENT</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EAF0F5"/>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CMU Auton Lab</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EAF0F5"/>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Encoder-only</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EAF0F5"/>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Patch-wise</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EAF0F5"/>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385M</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EAF0F5"/>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Time Series Pile, 1.2B</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EAF0F5"/>
                    </a:solidFill>
                  </a:tcPr>
                </a:tc>
              </a:tr>
              <a:tr h="548640">
                <a:tc>
                  <a:txBody>
                    <a:bodyPr/>
                    <a:lstStyle/>
                    <a:p>
                      <a:pPr algn="l" indent="0" marL="0">
                        <a:buNone/>
                      </a:pPr>
                      <a:r>
                        <a:rPr lang="en-US" sz="1200" b="1" dirty="0">
                          <a:solidFill>
                            <a:srgbClr val="0B2545"/>
                          </a:solidFill>
                          <a:latin typeface="Calibri" pitchFamily="34" charset="0"/>
                          <a:ea typeface="Calibri" pitchFamily="34" charset="-122"/>
                          <a:cs typeface="Calibri" pitchFamily="34" charset="-120"/>
                        </a:rPr>
                        <a:t>Time-MoE</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Time-MoE team</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Decoder-only + MoE</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Point-wise</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2.4B</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Time-300B, 300B points</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0B2545"/>
                          </a:solidFill>
                          <a:latin typeface="Calibri" pitchFamily="34" charset="0"/>
                          <a:ea typeface="Calibri" pitchFamily="34" charset="-122"/>
                          <a:cs typeface="Calibri" pitchFamily="34" charset="-120"/>
                        </a:rPr>
                        <a:t>Lag-Llama</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EAF0F5"/>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ServiceNow et al.</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EAF0F5"/>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Decoder-only</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EAF0F5"/>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Point-wise + lags</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EAF0F5"/>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200M</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EAF0F5"/>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~352M points</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EAF0F5"/>
                    </a:solidFill>
                  </a:tcPr>
                </a:tc>
              </a:tr>
              <a:tr h="548640">
                <a:tc>
                  <a:txBody>
                    <a:bodyPr/>
                    <a:lstStyle/>
                    <a:p>
                      <a:pPr algn="l" indent="0" marL="0">
                        <a:buNone/>
                      </a:pPr>
                      <a:r>
                        <a:rPr lang="en-US" sz="1200" b="1" dirty="0">
                          <a:solidFill>
                            <a:srgbClr val="0B2545"/>
                          </a:solidFill>
                          <a:latin typeface="Calibri" pitchFamily="34" charset="0"/>
                          <a:ea typeface="Calibri" pitchFamily="34" charset="-122"/>
                          <a:cs typeface="Calibri" pitchFamily="34" charset="-120"/>
                        </a:rPr>
                        <a:t>Timer</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Tsinghua THUML</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Decoder-only</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Patch-wise</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67M</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A"/>
                          </a:solidFill>
                          <a:latin typeface="Calibri" pitchFamily="34" charset="0"/>
                          <a:ea typeface="Calibri" pitchFamily="34" charset="-122"/>
                          <a:cs typeface="Calibri" pitchFamily="34" charset="-120"/>
                        </a:rPr>
                        <a:t>UTSD, ~1B points</a:t>
                      </a:r>
                      <a:endParaRPr lang="en-US" sz="1200" dirty="0">
                        <a:latin typeface="Calibri" charset="0"/>
                        <a:ea typeface="Calibri" charset="0"/>
                        <a:cs typeface="Calibri" charset="0"/>
                      </a:endParaRPr>
                    </a:p>
                  </a:txBody>
                  <a:tcPr marL="76200" marR="76200" marT="76200" marB="7620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FFFFFF"/>
                    </a:solidFill>
                  </a:tcPr>
                </a:tc>
              </a:tr>
            </a:tbl>
          </a:graphicData>
        </a:graphic>
      </p:graphicFrame>
      <p:sp>
        <p:nvSpPr>
          <p:cNvPr id="8" name="Text 5"/>
          <p:cNvSpPr/>
          <p:nvPr/>
        </p:nvSpPr>
        <p:spPr>
          <a:xfrm>
            <a:off x="777240" y="5897880"/>
            <a:ext cx="10607040" cy="457200"/>
          </a:xfrm>
          <a:prstGeom prst="rect">
            <a:avLst/>
          </a:prstGeom>
          <a:noFill/>
          <a:ln/>
        </p:spPr>
        <p:txBody>
          <a:bodyPr wrap="square" lIns="0" tIns="0" rIns="0" bIns="0" rtlCol="0" anchor="ctr"/>
          <a:lstStyle/>
          <a:p>
            <a:pPr indent="0" marL="0">
              <a:buNone/>
            </a:pPr>
            <a:r>
              <a:rPr lang="en-US" sz="1250" i="1" dirty="0">
                <a:solidFill>
                  <a:srgbClr val="5A6B7B"/>
                </a:solidFill>
                <a:latin typeface="Calibri" pitchFamily="34" charset="0"/>
                <a:ea typeface="Calibri" pitchFamily="34" charset="-122"/>
                <a:cs typeface="Calibri" pitchFamily="34" charset="-120"/>
              </a:rPr>
              <a:t>Decoder-only models dominate pure forecasting; encoder-only models dominate representation and multi-task use. Corpus sizes span six orders of magnitude.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02920" y="457200"/>
            <a:ext cx="201168" cy="201168"/>
          </a:xfrm>
          <a:prstGeom prst="rect">
            <a:avLst/>
          </a:prstGeom>
          <a:solidFill>
            <a:srgbClr val="0FB5A8"/>
          </a:solidFill>
          <a:ln/>
        </p:spPr>
      </p:sp>
      <p:sp>
        <p:nvSpPr>
          <p:cNvPr id="3" name="Text 1"/>
          <p:cNvSpPr/>
          <p:nvPr/>
        </p:nvSpPr>
        <p:spPr>
          <a:xfrm>
            <a:off x="822960" y="365760"/>
            <a:ext cx="10789920" cy="292608"/>
          </a:xfrm>
          <a:prstGeom prst="rect">
            <a:avLst/>
          </a:prstGeom>
          <a:noFill/>
          <a:ln/>
        </p:spPr>
        <p:txBody>
          <a:bodyPr wrap="square" lIns="0" tIns="0" rIns="0" bIns="0" rtlCol="0" anchor="ctr"/>
          <a:lstStyle/>
          <a:p>
            <a:pPr indent="0" marL="0">
              <a:buNone/>
            </a:pPr>
            <a:r>
              <a:rPr lang="en-US" sz="1200" b="1" spc="300" kern="0" dirty="0">
                <a:solidFill>
                  <a:srgbClr val="0FB5A8"/>
                </a:solidFill>
                <a:latin typeface="Calibri" pitchFamily="34" charset="0"/>
                <a:ea typeface="Calibri" pitchFamily="34" charset="-122"/>
                <a:cs typeface="Calibri" pitchFamily="34" charset="-120"/>
              </a:rPr>
              <a:t>PATHWAYS 2 &amp; 3</a:t>
            </a:r>
            <a:endParaRPr lang="en-US" sz="1200" dirty="0"/>
          </a:p>
        </p:txBody>
      </p:sp>
      <p:sp>
        <p:nvSpPr>
          <p:cNvPr id="4" name="Text 2"/>
          <p:cNvSpPr/>
          <p:nvPr/>
        </p:nvSpPr>
        <p:spPr>
          <a:xfrm>
            <a:off x="777240" y="603504"/>
            <a:ext cx="10881360" cy="777240"/>
          </a:xfrm>
          <a:prstGeom prst="rect">
            <a:avLst/>
          </a:prstGeom>
          <a:noFill/>
          <a:ln/>
        </p:spPr>
        <p:txBody>
          <a:bodyPr wrap="square" lIns="0" tIns="0" rIns="0" bIns="0" rtlCol="0" anchor="ctr"/>
          <a:lstStyle/>
          <a:p>
            <a:pPr indent="0" marL="0">
              <a:buNone/>
            </a:pPr>
            <a:r>
              <a:rPr lang="en-US" sz="3000" b="1" dirty="0">
                <a:solidFill>
                  <a:srgbClr val="0B2545"/>
                </a:solidFill>
                <a:latin typeface="Georgia" pitchFamily="34" charset="0"/>
                <a:ea typeface="Georgia" pitchFamily="34" charset="-122"/>
                <a:cs typeface="Georgia" pitchFamily="34" charset="-120"/>
              </a:rPr>
              <a:t>Borrowing brains from language and vision</a:t>
            </a:r>
            <a:endParaRPr lang="en-US" sz="3000" dirty="0"/>
          </a:p>
        </p:txBody>
      </p:sp>
      <p:sp>
        <p:nvSpPr>
          <p:cNvPr id="5" name="Text 3"/>
          <p:cNvSpPr/>
          <p:nvPr/>
        </p:nvSpPr>
        <p:spPr>
          <a:xfrm>
            <a:off x="502920" y="6437376"/>
            <a:ext cx="7315200" cy="274320"/>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Time-Series Foundation Models  ·  CMPE 258 Short Story</a:t>
            </a:r>
            <a:endParaRPr lang="en-US" sz="900" dirty="0"/>
          </a:p>
        </p:txBody>
      </p:sp>
      <p:sp>
        <p:nvSpPr>
          <p:cNvPr id="6" name="Text 4"/>
          <p:cNvSpPr/>
          <p:nvPr/>
        </p:nvSpPr>
        <p:spPr>
          <a:xfrm>
            <a:off x="11338560" y="6437376"/>
            <a:ext cx="365760" cy="274320"/>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777240" y="1645920"/>
            <a:ext cx="5212080" cy="4206240"/>
          </a:xfrm>
          <a:prstGeom prst="roundRect">
            <a:avLst>
              <a:gd name="adj" fmla="val 1304"/>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8" name="Shape 6"/>
          <p:cNvSpPr/>
          <p:nvPr/>
        </p:nvSpPr>
        <p:spPr>
          <a:xfrm>
            <a:off x="777240" y="1645920"/>
            <a:ext cx="5212080" cy="118872"/>
          </a:xfrm>
          <a:prstGeom prst="rect">
            <a:avLst/>
          </a:prstGeom>
          <a:solidFill>
            <a:srgbClr val="FF7F0E"/>
          </a:solidFill>
          <a:ln/>
        </p:spPr>
      </p:sp>
      <p:sp>
        <p:nvSpPr>
          <p:cNvPr id="9" name="Text 7"/>
          <p:cNvSpPr/>
          <p:nvPr/>
        </p:nvSpPr>
        <p:spPr>
          <a:xfrm>
            <a:off x="1051560" y="1874520"/>
            <a:ext cx="4663440" cy="411480"/>
          </a:xfrm>
          <a:prstGeom prst="rect">
            <a:avLst/>
          </a:prstGeom>
          <a:noFill/>
          <a:ln/>
        </p:spPr>
        <p:txBody>
          <a:bodyPr wrap="square" lIns="0" tIns="0" rIns="0" bIns="0" rtlCol="0" anchor="ctr"/>
          <a:lstStyle/>
          <a:p>
            <a:pPr indent="0" marL="0">
              <a:buNone/>
            </a:pPr>
            <a:r>
              <a:rPr lang="en-US" sz="1800" b="1" dirty="0">
                <a:solidFill>
                  <a:srgbClr val="0B2545"/>
                </a:solidFill>
                <a:latin typeface="Georgia" pitchFamily="34" charset="0"/>
                <a:ea typeface="Georgia" pitchFamily="34" charset="-122"/>
                <a:cs typeface="Georgia" pitchFamily="34" charset="-120"/>
              </a:rPr>
              <a:t>Language-based models (LFMs)</a:t>
            </a:r>
            <a:endParaRPr lang="en-US" sz="1800" dirty="0"/>
          </a:p>
        </p:txBody>
      </p:sp>
      <p:sp>
        <p:nvSpPr>
          <p:cNvPr id="10" name="Text 8"/>
          <p:cNvSpPr/>
          <p:nvPr/>
        </p:nvSpPr>
        <p:spPr>
          <a:xfrm>
            <a:off x="1051560" y="2331720"/>
            <a:ext cx="4754880" cy="868680"/>
          </a:xfrm>
          <a:prstGeom prst="rect">
            <a:avLst/>
          </a:prstGeom>
          <a:noFill/>
          <a:ln/>
        </p:spPr>
        <p:txBody>
          <a:bodyPr wrap="square" lIns="0" tIns="0" rIns="0" bIns="0" rtlCol="0" anchor="ctr"/>
          <a:lstStyle/>
          <a:p>
            <a:pPr indent="0" marL="0">
              <a:buNone/>
            </a:pPr>
            <a:r>
              <a:rPr lang="en-US" sz="1300" dirty="0">
                <a:solidFill>
                  <a:srgbClr val="1B2A3A"/>
                </a:solidFill>
                <a:latin typeface="Calibri" pitchFamily="34" charset="0"/>
                <a:ea typeface="Calibri" pitchFamily="34" charset="-122"/>
                <a:cs typeface="Calibri" pitchFamily="34" charset="-120"/>
              </a:rPr>
              <a:t>Can a model trained only on text forecast numbers? Surprisingly often, yes. Organized by how they bridge signal and language:</a:t>
            </a:r>
            <a:endParaRPr lang="en-US" sz="1300" dirty="0"/>
          </a:p>
        </p:txBody>
      </p:sp>
      <p:sp>
        <p:nvSpPr>
          <p:cNvPr id="11" name="Text 9"/>
          <p:cNvSpPr/>
          <p:nvPr/>
        </p:nvSpPr>
        <p:spPr>
          <a:xfrm>
            <a:off x="1097280" y="3200400"/>
            <a:ext cx="4709160" cy="182880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1B2A3A"/>
                </a:solidFill>
                <a:latin typeface="Calibri" pitchFamily="34" charset="0"/>
                <a:ea typeface="Calibri" pitchFamily="34" charset="-122"/>
                <a:cs typeface="Calibri" pitchFamily="34" charset="-120"/>
              </a:rPr>
              <a:t>LLMTime — write numbers as digit strings, let GPT continue them.</a:t>
            </a:r>
            <a:endParaRPr lang="en-US" sz="1250" dirty="0"/>
          </a:p>
          <a:p>
            <a:pPr marL="342900" indent="-342900">
              <a:spcAft>
                <a:spcPts val="600"/>
              </a:spcAft>
              <a:buSzPct val="100000"/>
              <a:buChar char="•"/>
            </a:pPr>
            <a:r>
              <a:rPr lang="en-US" sz="1250" dirty="0">
                <a:solidFill>
                  <a:srgbClr val="1B2A3A"/>
                </a:solidFill>
                <a:latin typeface="Calibri" pitchFamily="34" charset="0"/>
                <a:ea typeface="Calibri" pitchFamily="34" charset="-122"/>
                <a:cs typeface="Calibri" pitchFamily="34" charset="-120"/>
              </a:rPr>
              <a:t>Time-LLM — keep the LLM frozen, “reprogram” the series via cross-attention to word embeddings.</a:t>
            </a:r>
            <a:endParaRPr lang="en-US" sz="1250" dirty="0"/>
          </a:p>
          <a:p>
            <a:pPr marL="342900" indent="-342900">
              <a:buSzPct val="100000"/>
              <a:buChar char="•"/>
            </a:pPr>
            <a:r>
              <a:rPr lang="en-US" sz="1250" dirty="0">
                <a:solidFill>
                  <a:srgbClr val="1B2A3A"/>
                </a:solidFill>
                <a:latin typeface="Calibri" pitchFamily="34" charset="0"/>
                <a:ea typeface="Calibri" pitchFamily="34" charset="-122"/>
                <a:cs typeface="Calibri" pitchFamily="34" charset="-120"/>
              </a:rPr>
              <a:t>GPT4TS — freeze most of GPT-2, tune only embeddings &amp; norms; still handles 4 tasks.</a:t>
            </a:r>
            <a:endParaRPr lang="en-US" sz="1250" dirty="0"/>
          </a:p>
        </p:txBody>
      </p:sp>
      <p:sp>
        <p:nvSpPr>
          <p:cNvPr id="12" name="Text 10"/>
          <p:cNvSpPr/>
          <p:nvPr/>
        </p:nvSpPr>
        <p:spPr>
          <a:xfrm>
            <a:off x="1051560" y="5349240"/>
            <a:ext cx="4754880" cy="365760"/>
          </a:xfrm>
          <a:prstGeom prst="rect">
            <a:avLst/>
          </a:prstGeom>
          <a:noFill/>
          <a:ln/>
        </p:spPr>
        <p:txBody>
          <a:bodyPr wrap="square" lIns="0" tIns="0" rIns="0" bIns="0" rtlCol="0" anchor="ctr"/>
          <a:lstStyle/>
          <a:p>
            <a:pPr indent="0" marL="0">
              <a:buNone/>
            </a:pPr>
            <a:r>
              <a:rPr lang="en-US" sz="1200" b="1" i="1" dirty="0">
                <a:solidFill>
                  <a:srgbClr val="FF7F0E"/>
                </a:solidFill>
                <a:latin typeface="Calibri" pitchFamily="34" charset="0"/>
                <a:ea typeface="Calibri" pitchFamily="34" charset="-122"/>
                <a:cs typeface="Calibri" pitchFamily="34" charset="-120"/>
              </a:rPr>
              <a:t>Recurring theme: parameter-efficient tuning.</a:t>
            </a:r>
            <a:endParaRPr lang="en-US" sz="1200" dirty="0"/>
          </a:p>
        </p:txBody>
      </p:sp>
      <p:sp>
        <p:nvSpPr>
          <p:cNvPr id="13" name="Shape 11"/>
          <p:cNvSpPr/>
          <p:nvPr/>
        </p:nvSpPr>
        <p:spPr>
          <a:xfrm>
            <a:off x="6172200" y="1645920"/>
            <a:ext cx="5212080" cy="4206240"/>
          </a:xfrm>
          <a:prstGeom prst="roundRect">
            <a:avLst>
              <a:gd name="adj" fmla="val 1304"/>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14" name="Shape 12"/>
          <p:cNvSpPr/>
          <p:nvPr/>
        </p:nvSpPr>
        <p:spPr>
          <a:xfrm>
            <a:off x="6172200" y="1645920"/>
            <a:ext cx="5212080" cy="118872"/>
          </a:xfrm>
          <a:prstGeom prst="rect">
            <a:avLst/>
          </a:prstGeom>
          <a:solidFill>
            <a:srgbClr val="0FB5A8"/>
          </a:solidFill>
          <a:ln/>
        </p:spPr>
      </p:sp>
      <p:sp>
        <p:nvSpPr>
          <p:cNvPr id="15" name="Text 13"/>
          <p:cNvSpPr/>
          <p:nvPr/>
        </p:nvSpPr>
        <p:spPr>
          <a:xfrm>
            <a:off x="6446520" y="1874520"/>
            <a:ext cx="4663440" cy="411480"/>
          </a:xfrm>
          <a:prstGeom prst="rect">
            <a:avLst/>
          </a:prstGeom>
          <a:noFill/>
          <a:ln/>
        </p:spPr>
        <p:txBody>
          <a:bodyPr wrap="square" lIns="0" tIns="0" rIns="0" bIns="0" rtlCol="0" anchor="ctr"/>
          <a:lstStyle/>
          <a:p>
            <a:pPr indent="0" marL="0">
              <a:buNone/>
            </a:pPr>
            <a:r>
              <a:rPr lang="en-US" sz="1800" b="1" dirty="0">
                <a:solidFill>
                  <a:srgbClr val="0B2545"/>
                </a:solidFill>
                <a:latin typeface="Georgia" pitchFamily="34" charset="0"/>
                <a:ea typeface="Georgia" pitchFamily="34" charset="-122"/>
                <a:cs typeface="Georgia" pitchFamily="34" charset="-120"/>
              </a:rPr>
              <a:t>Vision-based models (VFMs)</a:t>
            </a:r>
            <a:endParaRPr lang="en-US" sz="1800" dirty="0"/>
          </a:p>
        </p:txBody>
      </p:sp>
      <p:sp>
        <p:nvSpPr>
          <p:cNvPr id="16" name="Text 14"/>
          <p:cNvSpPr/>
          <p:nvPr/>
        </p:nvSpPr>
        <p:spPr>
          <a:xfrm>
            <a:off x="6446520" y="2331720"/>
            <a:ext cx="4754880" cy="640080"/>
          </a:xfrm>
          <a:prstGeom prst="rect">
            <a:avLst/>
          </a:prstGeom>
          <a:noFill/>
          <a:ln/>
        </p:spPr>
        <p:txBody>
          <a:bodyPr wrap="square" lIns="0" tIns="0" rIns="0" bIns="0" rtlCol="0" anchor="ctr"/>
          <a:lstStyle/>
          <a:p>
            <a:pPr indent="0" marL="0">
              <a:buNone/>
            </a:pPr>
            <a:r>
              <a:rPr lang="en-US" sz="1300" dirty="0">
                <a:solidFill>
                  <a:srgbClr val="1B2A3A"/>
                </a:solidFill>
                <a:latin typeface="Calibri" pitchFamily="34" charset="0"/>
                <a:ea typeface="Calibri" pitchFamily="34" charset="-122"/>
                <a:cs typeface="Calibri" pitchFamily="34" charset="-120"/>
              </a:rPr>
              <a:t>The survey's most surprising chapter: forecasting becomes image completion.</a:t>
            </a:r>
            <a:endParaRPr lang="en-US" sz="1300" dirty="0"/>
          </a:p>
        </p:txBody>
      </p:sp>
      <p:sp>
        <p:nvSpPr>
          <p:cNvPr id="17" name="Text 15"/>
          <p:cNvSpPr/>
          <p:nvPr/>
        </p:nvSpPr>
        <p:spPr>
          <a:xfrm>
            <a:off x="6492240" y="3063240"/>
            <a:ext cx="4709160" cy="182880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1B2A3A"/>
                </a:solidFill>
                <a:latin typeface="Calibri" pitchFamily="34" charset="0"/>
                <a:ea typeface="Calibri" pitchFamily="34" charset="-122"/>
                <a:cs typeface="Calibri" pitchFamily="34" charset="-120"/>
              </a:rPr>
              <a:t>Render the series as a line plot, heatmap or scalogram.</a:t>
            </a:r>
            <a:endParaRPr lang="en-US" sz="1250" dirty="0"/>
          </a:p>
          <a:p>
            <a:pPr marL="342900" indent="-342900">
              <a:spcAft>
                <a:spcPts val="600"/>
              </a:spcAft>
              <a:buSzPct val="100000"/>
              <a:buChar char="•"/>
            </a:pPr>
            <a:r>
              <a:rPr lang="en-US" sz="1250" dirty="0">
                <a:solidFill>
                  <a:srgbClr val="1B2A3A"/>
                </a:solidFill>
                <a:latin typeface="Calibri" pitchFamily="34" charset="0"/>
                <a:ea typeface="Calibri" pitchFamily="34" charset="-122"/>
                <a:cs typeface="Calibri" pitchFamily="34" charset="-120"/>
              </a:rPr>
              <a:t>VisionTS feeds it to a masked autoencoder pre-trained only on natural images.</a:t>
            </a:r>
            <a:endParaRPr lang="en-US" sz="1250" dirty="0"/>
          </a:p>
          <a:p>
            <a:pPr marL="342900" indent="-342900">
              <a:buSzPct val="100000"/>
              <a:buChar char="•"/>
            </a:pPr>
            <a:r>
              <a:rPr lang="en-US" sz="1250" dirty="0">
                <a:solidFill>
                  <a:srgbClr val="1B2A3A"/>
                </a:solidFill>
                <a:latin typeface="Calibri" pitchFamily="34" charset="0"/>
                <a:ea typeface="Calibri" pitchFamily="34" charset="-122"/>
                <a:cs typeface="Calibri" pitchFamily="34" charset="-120"/>
              </a:rPr>
              <a:t>The model “inpaints” the missing future — and it works.</a:t>
            </a:r>
            <a:endParaRPr lang="en-US" sz="1250" dirty="0"/>
          </a:p>
        </p:txBody>
      </p:sp>
      <p:sp>
        <p:nvSpPr>
          <p:cNvPr id="18" name="Text 16"/>
          <p:cNvSpPr/>
          <p:nvPr/>
        </p:nvSpPr>
        <p:spPr>
          <a:xfrm>
            <a:off x="6446520" y="5212080"/>
            <a:ext cx="4754880" cy="548640"/>
          </a:xfrm>
          <a:prstGeom prst="rect">
            <a:avLst/>
          </a:prstGeom>
          <a:noFill/>
          <a:ln/>
        </p:spPr>
        <p:txBody>
          <a:bodyPr wrap="square" lIns="0" tIns="0" rIns="0" bIns="0" rtlCol="0" anchor="ctr"/>
          <a:lstStyle/>
          <a:p>
            <a:pPr indent="0" marL="0">
              <a:buNone/>
            </a:pPr>
            <a:r>
              <a:rPr lang="en-US" sz="1200" b="1" i="1" dirty="0">
                <a:solidFill>
                  <a:srgbClr val="0FB5A8"/>
                </a:solidFill>
                <a:latin typeface="Calibri" pitchFamily="34" charset="0"/>
                <a:ea typeface="Calibri" pitchFamily="34" charset="-122"/>
                <a:cs typeface="Calibri" pitchFamily="34" charset="-120"/>
              </a:rPr>
              <a:t>My take: underrated — it quietly reuses the largest pre-trained models on Earth.</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02920" y="457200"/>
            <a:ext cx="201168" cy="201168"/>
          </a:xfrm>
          <a:prstGeom prst="rect">
            <a:avLst/>
          </a:prstGeom>
          <a:solidFill>
            <a:srgbClr val="0FB5A8"/>
          </a:solidFill>
          <a:ln/>
        </p:spPr>
      </p:sp>
      <p:sp>
        <p:nvSpPr>
          <p:cNvPr id="3" name="Text 1"/>
          <p:cNvSpPr/>
          <p:nvPr/>
        </p:nvSpPr>
        <p:spPr>
          <a:xfrm>
            <a:off x="822960" y="365760"/>
            <a:ext cx="10789920" cy="292608"/>
          </a:xfrm>
          <a:prstGeom prst="rect">
            <a:avLst/>
          </a:prstGeom>
          <a:noFill/>
          <a:ln/>
        </p:spPr>
        <p:txBody>
          <a:bodyPr wrap="square" lIns="0" tIns="0" rIns="0" bIns="0" rtlCol="0" anchor="ctr"/>
          <a:lstStyle/>
          <a:p>
            <a:pPr indent="0" marL="0">
              <a:buNone/>
            </a:pPr>
            <a:r>
              <a:rPr lang="en-US" sz="1200" b="1" spc="300" kern="0" dirty="0">
                <a:solidFill>
                  <a:srgbClr val="0FB5A8"/>
                </a:solidFill>
                <a:latin typeface="Calibri" pitchFamily="34" charset="0"/>
                <a:ea typeface="Calibri" pitchFamily="34" charset="-122"/>
                <a:cs typeface="Calibri" pitchFamily="34" charset="-120"/>
              </a:rPr>
              <a:t>MY REPRODUCTION</a:t>
            </a:r>
            <a:endParaRPr lang="en-US" sz="1200" dirty="0"/>
          </a:p>
        </p:txBody>
      </p:sp>
      <p:sp>
        <p:nvSpPr>
          <p:cNvPr id="4" name="Text 2"/>
          <p:cNvSpPr/>
          <p:nvPr/>
        </p:nvSpPr>
        <p:spPr>
          <a:xfrm>
            <a:off x="777240" y="603504"/>
            <a:ext cx="10881360" cy="777240"/>
          </a:xfrm>
          <a:prstGeom prst="rect">
            <a:avLst/>
          </a:prstGeom>
          <a:noFill/>
          <a:ln/>
        </p:spPr>
        <p:txBody>
          <a:bodyPr wrap="square" lIns="0" tIns="0" rIns="0" bIns="0" rtlCol="0" anchor="ctr"/>
          <a:lstStyle/>
          <a:p>
            <a:pPr indent="0" marL="0">
              <a:buNone/>
            </a:pPr>
            <a:r>
              <a:rPr lang="en-US" sz="3000" b="1" dirty="0">
                <a:solidFill>
                  <a:srgbClr val="0B2545"/>
                </a:solidFill>
                <a:latin typeface="Georgia" pitchFamily="34" charset="0"/>
                <a:ea typeface="Georgia" pitchFamily="34" charset="-122"/>
                <a:cs typeface="Georgia" pitchFamily="34" charset="-120"/>
              </a:rPr>
              <a:t>Putting the zero-shot claim to the test</a:t>
            </a:r>
            <a:endParaRPr lang="en-US" sz="3000" dirty="0"/>
          </a:p>
        </p:txBody>
      </p:sp>
      <p:sp>
        <p:nvSpPr>
          <p:cNvPr id="5" name="Text 3"/>
          <p:cNvSpPr/>
          <p:nvPr/>
        </p:nvSpPr>
        <p:spPr>
          <a:xfrm>
            <a:off x="502920" y="6437376"/>
            <a:ext cx="7315200" cy="274320"/>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Time-Series Foundation Models  ·  CMPE 258 Short Story</a:t>
            </a:r>
            <a:endParaRPr lang="en-US" sz="900" dirty="0"/>
          </a:p>
        </p:txBody>
      </p:sp>
      <p:sp>
        <p:nvSpPr>
          <p:cNvPr id="6" name="Text 4"/>
          <p:cNvSpPr/>
          <p:nvPr/>
        </p:nvSpPr>
        <p:spPr>
          <a:xfrm>
            <a:off x="11338560" y="6437376"/>
            <a:ext cx="365760" cy="274320"/>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777240" y="1645920"/>
            <a:ext cx="5532120" cy="4251960"/>
          </a:xfrm>
          <a:prstGeom prst="roundRect">
            <a:avLst>
              <a:gd name="adj" fmla="val 1290"/>
            </a:avLst>
          </a:prstGeom>
          <a:solidFill>
            <a:srgbClr val="0B2545"/>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8" name="Text 6"/>
          <p:cNvSpPr/>
          <p:nvPr/>
        </p:nvSpPr>
        <p:spPr>
          <a:xfrm>
            <a:off x="1051560" y="1874520"/>
            <a:ext cx="4937760" cy="292608"/>
          </a:xfrm>
          <a:prstGeom prst="rect">
            <a:avLst/>
          </a:prstGeom>
          <a:noFill/>
          <a:ln/>
        </p:spPr>
        <p:txBody>
          <a:bodyPr wrap="square" lIns="0" tIns="0" rIns="0" bIns="0" rtlCol="0" anchor="ctr"/>
          <a:lstStyle/>
          <a:p>
            <a:pPr indent="0" marL="0">
              <a:buNone/>
            </a:pPr>
            <a:r>
              <a:rPr lang="en-US" sz="1200" b="1" spc="200" kern="0" dirty="0">
                <a:solidFill>
                  <a:srgbClr val="0FB5A8"/>
                </a:solidFill>
                <a:latin typeface="Calibri" pitchFamily="34" charset="0"/>
                <a:ea typeface="Calibri" pitchFamily="34" charset="-122"/>
                <a:cs typeface="Calibri" pitchFamily="34" charset="-120"/>
              </a:rPr>
              <a:t>THE EXPERIMENT</a:t>
            </a:r>
            <a:endParaRPr lang="en-US" sz="1200" dirty="0"/>
          </a:p>
        </p:txBody>
      </p:sp>
      <p:sp>
        <p:nvSpPr>
          <p:cNvPr id="9" name="Text 7"/>
          <p:cNvSpPr/>
          <p:nvPr/>
        </p:nvSpPr>
        <p:spPr>
          <a:xfrm>
            <a:off x="1051560" y="2212848"/>
            <a:ext cx="4983480" cy="777240"/>
          </a:xfrm>
          <a:prstGeom prst="rect">
            <a:avLst/>
          </a:prstGeom>
          <a:noFill/>
          <a:ln/>
        </p:spPr>
        <p:txBody>
          <a:bodyPr wrap="square" lIns="0" tIns="0" rIns="0" bIns="0" rtlCol="0" anchor="ctr"/>
          <a:lstStyle/>
          <a:p>
            <a:pPr indent="0" marL="0">
              <a:buNone/>
            </a:pPr>
            <a:r>
              <a:rPr lang="en-US" sz="1350" b="1" dirty="0">
                <a:solidFill>
                  <a:srgbClr val="0FB5A8"/>
                </a:solidFill>
                <a:latin typeface="Calibri" pitchFamily="34" charset="0"/>
                <a:ea typeface="Calibri" pitchFamily="34" charset="-122"/>
                <a:cs typeface="Calibri" pitchFamily="34" charset="-120"/>
              </a:rPr>
              <a:t>Model:  </a:t>
            </a:r>
            <a:pPr indent="0" marL="0">
              <a:buNone/>
            </a:pPr>
            <a:r>
              <a:rPr lang="en-US" sz="1350" dirty="0">
                <a:solidFill>
                  <a:srgbClr val="FFFFFF"/>
                </a:solidFill>
                <a:latin typeface="Calibri" pitchFamily="34" charset="0"/>
                <a:ea typeface="Calibri" pitchFamily="34" charset="-122"/>
                <a:cs typeface="Calibri" pitchFamily="34" charset="-120"/>
              </a:rPr>
              <a:t>Chronos (chronos-bolt-small, ~48M params). Never call .fit() — pure zero-shot.</a:t>
            </a:r>
            <a:endParaRPr lang="en-US" sz="1350" dirty="0"/>
          </a:p>
        </p:txBody>
      </p:sp>
      <p:sp>
        <p:nvSpPr>
          <p:cNvPr id="10" name="Text 8"/>
          <p:cNvSpPr/>
          <p:nvPr/>
        </p:nvSpPr>
        <p:spPr>
          <a:xfrm>
            <a:off x="1051560" y="3017520"/>
            <a:ext cx="4983480" cy="960120"/>
          </a:xfrm>
          <a:prstGeom prst="rect">
            <a:avLst/>
          </a:prstGeom>
          <a:noFill/>
          <a:ln/>
        </p:spPr>
        <p:txBody>
          <a:bodyPr wrap="square" lIns="0" tIns="0" rIns="0" bIns="0" rtlCol="0" anchor="ctr"/>
          <a:lstStyle/>
          <a:p>
            <a:pPr indent="0" marL="0">
              <a:buNone/>
            </a:pPr>
            <a:r>
              <a:rPr lang="en-US" sz="1350" b="1" dirty="0">
                <a:solidFill>
                  <a:srgbClr val="0FB5A8"/>
                </a:solidFill>
                <a:latin typeface="Calibri" pitchFamily="34" charset="0"/>
                <a:ea typeface="Calibri" pitchFamily="34" charset="-122"/>
                <a:cs typeface="Calibri" pitchFamily="34" charset="-120"/>
              </a:rPr>
              <a:t>Data:  </a:t>
            </a:r>
            <a:pPr indent="0" marL="0">
              <a:buNone/>
            </a:pPr>
            <a:r>
              <a:rPr lang="en-US" sz="1350" dirty="0">
                <a:solidFill>
                  <a:srgbClr val="FFFFFF"/>
                </a:solidFill>
                <a:latin typeface="Calibri" pitchFamily="34" charset="0"/>
                <a:ea typeface="Calibri" pitchFamily="34" charset="-122"/>
                <a:cs typeface="Calibri" pitchFamily="34" charset="-120"/>
              </a:rPr>
              <a:t>4 classic public datasets the model never saw — airline passengers, car sales, sunspots, daily temperatures.</a:t>
            </a:r>
            <a:endParaRPr lang="en-US" sz="1350" dirty="0"/>
          </a:p>
        </p:txBody>
      </p:sp>
      <p:sp>
        <p:nvSpPr>
          <p:cNvPr id="11" name="Text 9"/>
          <p:cNvSpPr/>
          <p:nvPr/>
        </p:nvSpPr>
        <p:spPr>
          <a:xfrm>
            <a:off x="1051560" y="4023360"/>
            <a:ext cx="4983480" cy="914400"/>
          </a:xfrm>
          <a:prstGeom prst="rect">
            <a:avLst/>
          </a:prstGeom>
          <a:noFill/>
          <a:ln/>
        </p:spPr>
        <p:txBody>
          <a:bodyPr wrap="square" lIns="0" tIns="0" rIns="0" bIns="0" rtlCol="0" anchor="ctr"/>
          <a:lstStyle/>
          <a:p>
            <a:pPr indent="0" marL="0">
              <a:buNone/>
            </a:pPr>
            <a:r>
              <a:rPr lang="en-US" sz="1350" b="1" dirty="0">
                <a:solidFill>
                  <a:srgbClr val="0FB5A8"/>
                </a:solidFill>
                <a:latin typeface="Calibri" pitchFamily="34" charset="0"/>
                <a:ea typeface="Calibri" pitchFamily="34" charset="-122"/>
                <a:cs typeface="Calibri" pitchFamily="34" charset="-120"/>
              </a:rPr>
              <a:t>Baselines:  </a:t>
            </a:r>
            <a:pPr indent="0" marL="0">
              <a:buNone/>
            </a:pPr>
            <a:r>
              <a:rPr lang="en-US" sz="1350" dirty="0">
                <a:solidFill>
                  <a:srgbClr val="FFFFFF"/>
                </a:solidFill>
                <a:latin typeface="Calibri" pitchFamily="34" charset="0"/>
                <a:ea typeface="Calibri" pitchFamily="34" charset="-122"/>
                <a:cs typeface="Calibri" pitchFamily="34" charset="-120"/>
              </a:rPr>
              <a:t>Naive, Seasonal Naive, Exponential Smoothing — each fit individually to its own series.</a:t>
            </a:r>
            <a:endParaRPr lang="en-US" sz="1350" dirty="0"/>
          </a:p>
        </p:txBody>
      </p:sp>
      <p:sp>
        <p:nvSpPr>
          <p:cNvPr id="12" name="Text 10"/>
          <p:cNvSpPr/>
          <p:nvPr/>
        </p:nvSpPr>
        <p:spPr>
          <a:xfrm>
            <a:off x="1051560" y="4937760"/>
            <a:ext cx="4983480" cy="822960"/>
          </a:xfrm>
          <a:prstGeom prst="rect">
            <a:avLst/>
          </a:prstGeom>
          <a:noFill/>
          <a:ln/>
        </p:spPr>
        <p:txBody>
          <a:bodyPr wrap="square" lIns="0" tIns="0" rIns="0" bIns="0" rtlCol="0" anchor="ctr"/>
          <a:lstStyle/>
          <a:p>
            <a:pPr indent="0" marL="0">
              <a:buNone/>
            </a:pPr>
            <a:r>
              <a:rPr lang="en-US" sz="1350" b="1" dirty="0">
                <a:solidFill>
                  <a:srgbClr val="0FB5A8"/>
                </a:solidFill>
                <a:latin typeface="Calibri" pitchFamily="34" charset="0"/>
                <a:ea typeface="Calibri" pitchFamily="34" charset="-122"/>
                <a:cs typeface="Calibri" pitchFamily="34" charset="-120"/>
              </a:rPr>
              <a:t>Metric:  </a:t>
            </a:r>
            <a:pPr indent="0" marL="0">
              <a:buNone/>
            </a:pPr>
            <a:r>
              <a:rPr lang="en-US" sz="1350" dirty="0">
                <a:solidFill>
                  <a:srgbClr val="FFFFFF"/>
                </a:solidFill>
                <a:latin typeface="Calibri" pitchFamily="34" charset="0"/>
                <a:ea typeface="Calibri" pitchFamily="34" charset="-122"/>
                <a:cs typeface="Calibri" pitchFamily="34" charset="-120"/>
              </a:rPr>
              <a:t>MASE — below 1.0 beats a seasonal-naive forecast; comparable across datasets.</a:t>
            </a:r>
            <a:endParaRPr lang="en-US" sz="1350" dirty="0"/>
          </a:p>
        </p:txBody>
      </p:sp>
      <p:sp>
        <p:nvSpPr>
          <p:cNvPr id="13" name="Shape 11"/>
          <p:cNvSpPr/>
          <p:nvPr/>
        </p:nvSpPr>
        <p:spPr>
          <a:xfrm>
            <a:off x="6537960" y="1645920"/>
            <a:ext cx="4846320" cy="4251960"/>
          </a:xfrm>
          <a:prstGeom prst="roundRect">
            <a:avLst>
              <a:gd name="adj" fmla="val 1290"/>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14" name="Text 12"/>
          <p:cNvSpPr/>
          <p:nvPr/>
        </p:nvSpPr>
        <p:spPr>
          <a:xfrm>
            <a:off x="6812280" y="1828800"/>
            <a:ext cx="4297680" cy="384048"/>
          </a:xfrm>
          <a:prstGeom prst="rect">
            <a:avLst/>
          </a:prstGeom>
          <a:noFill/>
          <a:ln/>
        </p:spPr>
        <p:txBody>
          <a:bodyPr wrap="square" lIns="0" tIns="0" rIns="0" bIns="0" rtlCol="0" anchor="ctr"/>
          <a:lstStyle/>
          <a:p>
            <a:pPr indent="0" marL="0">
              <a:buNone/>
            </a:pPr>
            <a:r>
              <a:rPr lang="en-US" sz="1700" b="1" dirty="0">
                <a:solidFill>
                  <a:srgbClr val="0B2545"/>
                </a:solidFill>
                <a:latin typeface="Georgia" pitchFamily="34" charset="0"/>
                <a:ea typeface="Georgia" pitchFamily="34" charset="-122"/>
                <a:cs typeface="Georgia" pitchFamily="34" charset="-120"/>
              </a:rPr>
              <a:t>The fair fight</a:t>
            </a:r>
            <a:endParaRPr lang="en-US" sz="1700" dirty="0"/>
          </a:p>
        </p:txBody>
      </p:sp>
      <p:sp>
        <p:nvSpPr>
          <p:cNvPr id="15" name="Text 13"/>
          <p:cNvSpPr/>
          <p:nvPr/>
        </p:nvSpPr>
        <p:spPr>
          <a:xfrm>
            <a:off x="6812280" y="2286000"/>
            <a:ext cx="4297680" cy="1005840"/>
          </a:xfrm>
          <a:prstGeom prst="rect">
            <a:avLst/>
          </a:prstGeom>
          <a:noFill/>
          <a:ln/>
        </p:spPr>
        <p:txBody>
          <a:bodyPr wrap="square" lIns="0" tIns="0" rIns="0" bIns="0" rtlCol="0" anchor="ctr"/>
          <a:lstStyle/>
          <a:p>
            <a:pPr indent="0" marL="0">
              <a:buNone/>
            </a:pPr>
            <a:r>
              <a:rPr lang="en-US" sz="1300" dirty="0">
                <a:solidFill>
                  <a:srgbClr val="1B2A3A"/>
                </a:solidFill>
                <a:latin typeface="Calibri" pitchFamily="34" charset="0"/>
                <a:ea typeface="Calibri" pitchFamily="34" charset="-122"/>
                <a:cs typeface="Calibri" pitchFamily="34" charset="-120"/>
              </a:rPr>
              <a:t>Classical baselines get an unfair advantage — they are trained on the very series they predict. The foundation model gets nothing.</a:t>
            </a:r>
            <a:endParaRPr lang="en-US" sz="1300" dirty="0"/>
          </a:p>
        </p:txBody>
      </p:sp>
      <p:sp>
        <p:nvSpPr>
          <p:cNvPr id="16" name="Shape 14"/>
          <p:cNvSpPr/>
          <p:nvPr/>
        </p:nvSpPr>
        <p:spPr>
          <a:xfrm>
            <a:off x="6812280" y="3337560"/>
            <a:ext cx="4297680" cy="1097280"/>
          </a:xfrm>
          <a:prstGeom prst="roundRect">
            <a:avLst>
              <a:gd name="adj" fmla="val 5000"/>
            </a:avLst>
          </a:prstGeom>
          <a:solidFill>
            <a:srgbClr val="EAF0F5"/>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17" name="Text 15"/>
          <p:cNvSpPr/>
          <p:nvPr/>
        </p:nvSpPr>
        <p:spPr>
          <a:xfrm>
            <a:off x="6995160" y="3474720"/>
            <a:ext cx="3931920" cy="365760"/>
          </a:xfrm>
          <a:prstGeom prst="rect">
            <a:avLst/>
          </a:prstGeom>
          <a:noFill/>
          <a:ln/>
        </p:spPr>
        <p:txBody>
          <a:bodyPr wrap="square" lIns="0" tIns="0" rIns="0" bIns="0" rtlCol="0" anchor="ctr"/>
          <a:lstStyle/>
          <a:p>
            <a:pPr indent="0" marL="0">
              <a:buNone/>
            </a:pPr>
            <a:r>
              <a:rPr lang="en-US" sz="1300" b="1" dirty="0">
                <a:solidFill>
                  <a:srgbClr val="13315C"/>
                </a:solidFill>
                <a:latin typeface="Calibri" pitchFamily="34" charset="0"/>
                <a:ea typeface="Calibri" pitchFamily="34" charset="-122"/>
                <a:cs typeface="Calibri" pitchFamily="34" charset="-120"/>
              </a:rPr>
              <a:t>Baselines:  fit per series</a:t>
            </a:r>
            <a:endParaRPr lang="en-US" sz="1300" dirty="0"/>
          </a:p>
        </p:txBody>
      </p:sp>
      <p:sp>
        <p:nvSpPr>
          <p:cNvPr id="18" name="Text 16"/>
          <p:cNvSpPr/>
          <p:nvPr/>
        </p:nvSpPr>
        <p:spPr>
          <a:xfrm>
            <a:off x="6995160" y="3840480"/>
            <a:ext cx="3931920" cy="457200"/>
          </a:xfrm>
          <a:prstGeom prst="rect">
            <a:avLst/>
          </a:prstGeom>
          <a:noFill/>
          <a:ln/>
        </p:spPr>
        <p:txBody>
          <a:bodyPr wrap="square" lIns="0" tIns="0" rIns="0" bIns="0" rtlCol="0" anchor="ctr"/>
          <a:lstStyle/>
          <a:p>
            <a:pPr indent="0" marL="0">
              <a:buNone/>
            </a:pPr>
            <a:r>
              <a:rPr lang="en-US" sz="1300" b="1" dirty="0">
                <a:solidFill>
                  <a:srgbClr val="0FB5A8"/>
                </a:solidFill>
                <a:latin typeface="Calibri" pitchFamily="34" charset="0"/>
                <a:ea typeface="Calibri" pitchFamily="34" charset="-122"/>
                <a:cs typeface="Calibri" pitchFamily="34" charset="-120"/>
              </a:rPr>
              <a:t>Chronos:  zero training, zero tuning</a:t>
            </a:r>
            <a:endParaRPr lang="en-US" sz="1300" dirty="0"/>
          </a:p>
        </p:txBody>
      </p:sp>
      <p:sp>
        <p:nvSpPr>
          <p:cNvPr id="19" name="Text 17"/>
          <p:cNvSpPr/>
          <p:nvPr/>
        </p:nvSpPr>
        <p:spPr>
          <a:xfrm>
            <a:off x="6812280" y="4572000"/>
            <a:ext cx="4297680" cy="1005840"/>
          </a:xfrm>
          <a:prstGeom prst="rect">
            <a:avLst/>
          </a:prstGeom>
          <a:noFill/>
          <a:ln/>
        </p:spPr>
        <p:txBody>
          <a:bodyPr wrap="square" lIns="0" tIns="0" rIns="0" bIns="0" rtlCol="0" anchor="ctr"/>
          <a:lstStyle/>
          <a:p>
            <a:pPr indent="0" marL="0">
              <a:buNone/>
            </a:pPr>
            <a:r>
              <a:rPr lang="en-US" sz="1200" i="1" dirty="0">
                <a:solidFill>
                  <a:srgbClr val="5A6B7B"/>
                </a:solidFill>
                <a:latin typeface="Calibri" pitchFamily="34" charset="0"/>
                <a:ea typeface="Calibri" pitchFamily="34" charset="-122"/>
                <a:cs typeface="Calibri" pitchFamily="34" charset="-120"/>
              </a:rPr>
              <a:t>Runs on a laptop CPU in about one minute. Code + executed notebook in the repo's reproduction/ folder.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02920" y="457200"/>
            <a:ext cx="201168" cy="201168"/>
          </a:xfrm>
          <a:prstGeom prst="rect">
            <a:avLst/>
          </a:prstGeom>
          <a:solidFill>
            <a:srgbClr val="0FB5A8"/>
          </a:solidFill>
          <a:ln/>
        </p:spPr>
      </p:sp>
      <p:sp>
        <p:nvSpPr>
          <p:cNvPr id="3" name="Text 1"/>
          <p:cNvSpPr/>
          <p:nvPr/>
        </p:nvSpPr>
        <p:spPr>
          <a:xfrm>
            <a:off x="822960" y="365760"/>
            <a:ext cx="10789920" cy="292608"/>
          </a:xfrm>
          <a:prstGeom prst="rect">
            <a:avLst/>
          </a:prstGeom>
          <a:noFill/>
          <a:ln/>
        </p:spPr>
        <p:txBody>
          <a:bodyPr wrap="square" lIns="0" tIns="0" rIns="0" bIns="0" rtlCol="0" anchor="ctr"/>
          <a:lstStyle/>
          <a:p>
            <a:pPr indent="0" marL="0">
              <a:buNone/>
            </a:pPr>
            <a:r>
              <a:rPr lang="en-US" sz="1200" b="1" spc="300" kern="0" dirty="0">
                <a:solidFill>
                  <a:srgbClr val="0FB5A8"/>
                </a:solidFill>
                <a:latin typeface="Calibri" pitchFamily="34" charset="0"/>
                <a:ea typeface="Calibri" pitchFamily="34" charset="-122"/>
                <a:cs typeface="Calibri" pitchFamily="34" charset="-120"/>
              </a:rPr>
              <a:t>MY REPRODUCTION · RESULT</a:t>
            </a:r>
            <a:endParaRPr lang="en-US" sz="1200" dirty="0"/>
          </a:p>
        </p:txBody>
      </p:sp>
      <p:sp>
        <p:nvSpPr>
          <p:cNvPr id="4" name="Text 2"/>
          <p:cNvSpPr/>
          <p:nvPr/>
        </p:nvSpPr>
        <p:spPr>
          <a:xfrm>
            <a:off x="777240" y="603504"/>
            <a:ext cx="10881360" cy="777240"/>
          </a:xfrm>
          <a:prstGeom prst="rect">
            <a:avLst/>
          </a:prstGeom>
          <a:noFill/>
          <a:ln/>
        </p:spPr>
        <p:txBody>
          <a:bodyPr wrap="square" lIns="0" tIns="0" rIns="0" bIns="0" rtlCol="0" anchor="ctr"/>
          <a:lstStyle/>
          <a:p>
            <a:pPr indent="0" marL="0">
              <a:buNone/>
            </a:pPr>
            <a:r>
              <a:rPr lang="en-US" sz="3000" b="1" dirty="0">
                <a:solidFill>
                  <a:srgbClr val="0B2545"/>
                </a:solidFill>
                <a:latin typeface="Georgia" pitchFamily="34" charset="0"/>
                <a:ea typeface="Georgia" pitchFamily="34" charset="-122"/>
                <a:cs typeface="Georgia" pitchFamily="34" charset="-120"/>
              </a:rPr>
              <a:t>Zero-shot beat models tuned to each series</a:t>
            </a:r>
            <a:endParaRPr lang="en-US" sz="3000" dirty="0"/>
          </a:p>
        </p:txBody>
      </p:sp>
      <p:sp>
        <p:nvSpPr>
          <p:cNvPr id="5" name="Text 3"/>
          <p:cNvSpPr/>
          <p:nvPr/>
        </p:nvSpPr>
        <p:spPr>
          <a:xfrm>
            <a:off x="502920" y="6437376"/>
            <a:ext cx="7315200" cy="274320"/>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Time-Series Foundation Models  ·  CMPE 258 Short Story</a:t>
            </a:r>
            <a:endParaRPr lang="en-US" sz="900" dirty="0"/>
          </a:p>
        </p:txBody>
      </p:sp>
      <p:sp>
        <p:nvSpPr>
          <p:cNvPr id="6" name="Text 4"/>
          <p:cNvSpPr/>
          <p:nvPr/>
        </p:nvSpPr>
        <p:spPr>
          <a:xfrm>
            <a:off x="11338560" y="6437376"/>
            <a:ext cx="365760" cy="274320"/>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777240" y="1645920"/>
            <a:ext cx="3337560" cy="2377440"/>
          </a:xfrm>
          <a:prstGeom prst="roundRect">
            <a:avLst>
              <a:gd name="adj" fmla="val 2308"/>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8" name="Text 6"/>
          <p:cNvSpPr/>
          <p:nvPr/>
        </p:nvSpPr>
        <p:spPr>
          <a:xfrm>
            <a:off x="914400" y="1783080"/>
            <a:ext cx="3063240" cy="914400"/>
          </a:xfrm>
          <a:prstGeom prst="rect">
            <a:avLst/>
          </a:prstGeom>
          <a:noFill/>
          <a:ln/>
        </p:spPr>
        <p:txBody>
          <a:bodyPr wrap="square" lIns="0" tIns="0" rIns="0" bIns="0" rtlCol="0" anchor="ctr"/>
          <a:lstStyle/>
          <a:p>
            <a:pPr algn="ctr" indent="0" marL="0">
              <a:buNone/>
            </a:pPr>
            <a:r>
              <a:rPr lang="en-US" sz="4600" b="1" dirty="0">
                <a:solidFill>
                  <a:srgbClr val="5A6B7B"/>
                </a:solidFill>
                <a:latin typeface="Georgia" pitchFamily="34" charset="0"/>
                <a:ea typeface="Georgia" pitchFamily="34" charset="-122"/>
                <a:cs typeface="Georgia" pitchFamily="34" charset="-120"/>
              </a:rPr>
              <a:t>~1.66</a:t>
            </a:r>
            <a:endParaRPr lang="en-US" sz="4600" dirty="0"/>
          </a:p>
        </p:txBody>
      </p:sp>
      <p:sp>
        <p:nvSpPr>
          <p:cNvPr id="9" name="Text 7"/>
          <p:cNvSpPr/>
          <p:nvPr/>
        </p:nvSpPr>
        <p:spPr>
          <a:xfrm>
            <a:off x="914400" y="2743200"/>
            <a:ext cx="3063240" cy="777240"/>
          </a:xfrm>
          <a:prstGeom prst="rect">
            <a:avLst/>
          </a:prstGeom>
          <a:noFill/>
          <a:ln/>
        </p:spPr>
        <p:txBody>
          <a:bodyPr wrap="square" lIns="0" tIns="0" rIns="0" bIns="0" rtlCol="0" anchor="ctr"/>
          <a:lstStyle/>
          <a:p>
            <a:pPr algn="ctr" indent="0" marL="0">
              <a:buNone/>
            </a:pPr>
            <a:r>
              <a:rPr lang="en-US" sz="1250" dirty="0">
                <a:solidFill>
                  <a:srgbClr val="1B2A3A"/>
                </a:solidFill>
                <a:latin typeface="Calibri" pitchFamily="34" charset="0"/>
                <a:ea typeface="Calibri" pitchFamily="34" charset="-122"/>
                <a:cs typeface="Calibri" pitchFamily="34" charset="-120"/>
              </a:rPr>
              <a:t>Seasonal Naive</a:t>
            </a:r>
            <a:endParaRPr lang="en-US" sz="1250" dirty="0"/>
          </a:p>
          <a:p>
            <a:pPr algn="ctr" indent="0" marL="0">
              <a:buNone/>
            </a:pPr>
            <a:r>
              <a:rPr lang="en-US" sz="1250" dirty="0">
                <a:solidFill>
                  <a:srgbClr val="1B2A3A"/>
                </a:solidFill>
                <a:latin typeface="Calibri" pitchFamily="34" charset="0"/>
                <a:ea typeface="Calibri" pitchFamily="34" charset="-122"/>
                <a:cs typeface="Calibri" pitchFamily="34" charset="-120"/>
              </a:rPr>
              <a:t>mean MASE</a:t>
            </a:r>
            <a:endParaRPr lang="en-US" sz="1250" dirty="0"/>
          </a:p>
        </p:txBody>
      </p:sp>
      <p:sp>
        <p:nvSpPr>
          <p:cNvPr id="10" name="Text 8"/>
          <p:cNvSpPr/>
          <p:nvPr/>
        </p:nvSpPr>
        <p:spPr>
          <a:xfrm>
            <a:off x="914400" y="3520440"/>
            <a:ext cx="3063240" cy="365760"/>
          </a:xfrm>
          <a:prstGeom prst="rect">
            <a:avLst/>
          </a:prstGeom>
          <a:noFill/>
          <a:ln/>
        </p:spPr>
        <p:txBody>
          <a:bodyPr wrap="square" lIns="0" tIns="0" rIns="0" bIns="0" rtlCol="0" anchor="ctr"/>
          <a:lstStyle/>
          <a:p>
            <a:pPr algn="ctr" indent="0" marL="0">
              <a:buNone/>
            </a:pPr>
            <a:r>
              <a:rPr lang="en-US" sz="1200" b="1" dirty="0">
                <a:solidFill>
                  <a:srgbClr val="5A6B7B"/>
                </a:solidFill>
                <a:latin typeface="Calibri" pitchFamily="34" charset="0"/>
                <a:ea typeface="Calibri" pitchFamily="34" charset="-122"/>
                <a:cs typeface="Calibri" pitchFamily="34" charset="-120"/>
              </a:rPr>
              <a:t>0 / 4 wins</a:t>
            </a:r>
            <a:endParaRPr lang="en-US" sz="1200" dirty="0"/>
          </a:p>
        </p:txBody>
      </p:sp>
      <p:sp>
        <p:nvSpPr>
          <p:cNvPr id="11" name="Shape 9"/>
          <p:cNvSpPr/>
          <p:nvPr/>
        </p:nvSpPr>
        <p:spPr>
          <a:xfrm>
            <a:off x="4389120" y="1645920"/>
            <a:ext cx="3337560" cy="2377440"/>
          </a:xfrm>
          <a:prstGeom prst="roundRect">
            <a:avLst>
              <a:gd name="adj" fmla="val 2308"/>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12" name="Text 10"/>
          <p:cNvSpPr/>
          <p:nvPr/>
        </p:nvSpPr>
        <p:spPr>
          <a:xfrm>
            <a:off x="4526280" y="1783080"/>
            <a:ext cx="3063240" cy="914400"/>
          </a:xfrm>
          <a:prstGeom prst="rect">
            <a:avLst/>
          </a:prstGeom>
          <a:noFill/>
          <a:ln/>
        </p:spPr>
        <p:txBody>
          <a:bodyPr wrap="square" lIns="0" tIns="0" rIns="0" bIns="0" rtlCol="0" anchor="ctr"/>
          <a:lstStyle/>
          <a:p>
            <a:pPr algn="ctr" indent="0" marL="0">
              <a:buNone/>
            </a:pPr>
            <a:r>
              <a:rPr lang="en-US" sz="4600" b="1" dirty="0">
                <a:solidFill>
                  <a:srgbClr val="13315C"/>
                </a:solidFill>
                <a:latin typeface="Georgia" pitchFamily="34" charset="0"/>
                <a:ea typeface="Georgia" pitchFamily="34" charset="-122"/>
                <a:cs typeface="Georgia" pitchFamily="34" charset="-120"/>
              </a:rPr>
              <a:t>~1.04</a:t>
            </a:r>
            <a:endParaRPr lang="en-US" sz="4600" dirty="0"/>
          </a:p>
        </p:txBody>
      </p:sp>
      <p:sp>
        <p:nvSpPr>
          <p:cNvPr id="13" name="Text 11"/>
          <p:cNvSpPr/>
          <p:nvPr/>
        </p:nvSpPr>
        <p:spPr>
          <a:xfrm>
            <a:off x="4526280" y="2743200"/>
            <a:ext cx="3063240" cy="777240"/>
          </a:xfrm>
          <a:prstGeom prst="rect">
            <a:avLst/>
          </a:prstGeom>
          <a:noFill/>
          <a:ln/>
        </p:spPr>
        <p:txBody>
          <a:bodyPr wrap="square" lIns="0" tIns="0" rIns="0" bIns="0" rtlCol="0" anchor="ctr"/>
          <a:lstStyle/>
          <a:p>
            <a:pPr algn="ctr" indent="0" marL="0">
              <a:buNone/>
            </a:pPr>
            <a:r>
              <a:rPr lang="en-US" sz="1250" dirty="0">
                <a:solidFill>
                  <a:srgbClr val="1B2A3A"/>
                </a:solidFill>
                <a:latin typeface="Calibri" pitchFamily="34" charset="0"/>
                <a:ea typeface="Calibri" pitchFamily="34" charset="-122"/>
                <a:cs typeface="Calibri" pitchFamily="34" charset="-120"/>
              </a:rPr>
              <a:t>Exp. Smoothing</a:t>
            </a:r>
            <a:endParaRPr lang="en-US" sz="1250" dirty="0"/>
          </a:p>
          <a:p>
            <a:pPr algn="ctr" indent="0" marL="0">
              <a:buNone/>
            </a:pPr>
            <a:r>
              <a:rPr lang="en-US" sz="1250" dirty="0">
                <a:solidFill>
                  <a:srgbClr val="1B2A3A"/>
                </a:solidFill>
                <a:latin typeface="Calibri" pitchFamily="34" charset="0"/>
                <a:ea typeface="Calibri" pitchFamily="34" charset="-122"/>
                <a:cs typeface="Calibri" pitchFamily="34" charset="-120"/>
              </a:rPr>
              <a:t>mean MASE  (fit per series)</a:t>
            </a:r>
            <a:endParaRPr lang="en-US" sz="1250" dirty="0"/>
          </a:p>
        </p:txBody>
      </p:sp>
      <p:sp>
        <p:nvSpPr>
          <p:cNvPr id="14" name="Text 12"/>
          <p:cNvSpPr/>
          <p:nvPr/>
        </p:nvSpPr>
        <p:spPr>
          <a:xfrm>
            <a:off x="4526280" y="3520440"/>
            <a:ext cx="3063240" cy="365760"/>
          </a:xfrm>
          <a:prstGeom prst="rect">
            <a:avLst/>
          </a:prstGeom>
          <a:noFill/>
          <a:ln/>
        </p:spPr>
        <p:txBody>
          <a:bodyPr wrap="square" lIns="0" tIns="0" rIns="0" bIns="0" rtlCol="0" anchor="ctr"/>
          <a:lstStyle/>
          <a:p>
            <a:pPr algn="ctr" indent="0" marL="0">
              <a:buNone/>
            </a:pPr>
            <a:r>
              <a:rPr lang="en-US" sz="1200" b="1" dirty="0">
                <a:solidFill>
                  <a:srgbClr val="13315C"/>
                </a:solidFill>
                <a:latin typeface="Calibri" pitchFamily="34" charset="0"/>
                <a:ea typeface="Calibri" pitchFamily="34" charset="-122"/>
                <a:cs typeface="Calibri" pitchFamily="34" charset="-120"/>
              </a:rPr>
              <a:t>1 / 4 wins</a:t>
            </a:r>
            <a:endParaRPr lang="en-US" sz="1200" dirty="0"/>
          </a:p>
        </p:txBody>
      </p:sp>
      <p:sp>
        <p:nvSpPr>
          <p:cNvPr id="15" name="Shape 13"/>
          <p:cNvSpPr/>
          <p:nvPr/>
        </p:nvSpPr>
        <p:spPr>
          <a:xfrm>
            <a:off x="8001000" y="1645920"/>
            <a:ext cx="3337560" cy="2377440"/>
          </a:xfrm>
          <a:prstGeom prst="roundRect">
            <a:avLst>
              <a:gd name="adj" fmla="val 2308"/>
            </a:avLst>
          </a:prstGeom>
          <a:solidFill>
            <a:srgbClr val="0B2545"/>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16" name="Text 14"/>
          <p:cNvSpPr/>
          <p:nvPr/>
        </p:nvSpPr>
        <p:spPr>
          <a:xfrm>
            <a:off x="8138160" y="1783080"/>
            <a:ext cx="3063240" cy="914400"/>
          </a:xfrm>
          <a:prstGeom prst="rect">
            <a:avLst/>
          </a:prstGeom>
          <a:noFill/>
          <a:ln/>
        </p:spPr>
        <p:txBody>
          <a:bodyPr wrap="square" lIns="0" tIns="0" rIns="0" bIns="0" rtlCol="0" anchor="ctr"/>
          <a:lstStyle/>
          <a:p>
            <a:pPr algn="ctr" indent="0" marL="0">
              <a:buNone/>
            </a:pPr>
            <a:r>
              <a:rPr lang="en-US" sz="4600" b="1" dirty="0">
                <a:solidFill>
                  <a:srgbClr val="0FB5A8"/>
                </a:solidFill>
                <a:latin typeface="Georgia" pitchFamily="34" charset="0"/>
                <a:ea typeface="Georgia" pitchFamily="34" charset="-122"/>
                <a:cs typeface="Georgia" pitchFamily="34" charset="-120"/>
              </a:rPr>
              <a:t>~0.92</a:t>
            </a:r>
            <a:endParaRPr lang="en-US" sz="4600" dirty="0"/>
          </a:p>
        </p:txBody>
      </p:sp>
      <p:sp>
        <p:nvSpPr>
          <p:cNvPr id="17" name="Text 15"/>
          <p:cNvSpPr/>
          <p:nvPr/>
        </p:nvSpPr>
        <p:spPr>
          <a:xfrm>
            <a:off x="8138160" y="2743200"/>
            <a:ext cx="3063240" cy="777240"/>
          </a:xfrm>
          <a:prstGeom prst="rect">
            <a:avLst/>
          </a:prstGeom>
          <a:noFill/>
          <a:ln/>
        </p:spPr>
        <p:txBody>
          <a:bodyPr wrap="square" lIns="0" tIns="0" rIns="0" bIns="0"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Chronos zero-shot</a:t>
            </a:r>
            <a:endParaRPr lang="en-US" sz="1250" dirty="0"/>
          </a:p>
          <a:p>
            <a:pPr algn="ctr" indent="0" marL="0">
              <a:buNone/>
            </a:pPr>
            <a:r>
              <a:rPr lang="en-US" sz="1250" dirty="0">
                <a:solidFill>
                  <a:srgbClr val="CADCFC"/>
                </a:solidFill>
                <a:latin typeface="Calibri" pitchFamily="34" charset="0"/>
                <a:ea typeface="Calibri" pitchFamily="34" charset="-122"/>
                <a:cs typeface="Calibri" pitchFamily="34" charset="-120"/>
              </a:rPr>
              <a:t>mean MASE</a:t>
            </a:r>
            <a:endParaRPr lang="en-US" sz="1250" dirty="0"/>
          </a:p>
        </p:txBody>
      </p:sp>
      <p:sp>
        <p:nvSpPr>
          <p:cNvPr id="18" name="Text 16"/>
          <p:cNvSpPr/>
          <p:nvPr/>
        </p:nvSpPr>
        <p:spPr>
          <a:xfrm>
            <a:off x="8138160" y="3520440"/>
            <a:ext cx="3063240" cy="365760"/>
          </a:xfrm>
          <a:prstGeom prst="rect">
            <a:avLst/>
          </a:prstGeom>
          <a:noFill/>
          <a:ln/>
        </p:spPr>
        <p:txBody>
          <a:bodyPr wrap="square" lIns="0" tIns="0" rIns="0" bIns="0" rtlCol="0" anchor="ctr"/>
          <a:lstStyle/>
          <a:p>
            <a:pPr algn="ctr" indent="0" marL="0">
              <a:buNone/>
            </a:pPr>
            <a:r>
              <a:rPr lang="en-US" sz="1200" b="1" dirty="0">
                <a:solidFill>
                  <a:srgbClr val="0FB5A8"/>
                </a:solidFill>
                <a:latin typeface="Calibri" pitchFamily="34" charset="0"/>
                <a:ea typeface="Calibri" pitchFamily="34" charset="-122"/>
                <a:cs typeface="Calibri" pitchFamily="34" charset="-120"/>
              </a:rPr>
              <a:t>2 / 4 wins</a:t>
            </a:r>
            <a:endParaRPr lang="en-US" sz="1200" dirty="0"/>
          </a:p>
        </p:txBody>
      </p:sp>
      <p:sp>
        <p:nvSpPr>
          <p:cNvPr id="19" name="Shape 17"/>
          <p:cNvSpPr/>
          <p:nvPr/>
        </p:nvSpPr>
        <p:spPr>
          <a:xfrm>
            <a:off x="777240" y="4251960"/>
            <a:ext cx="10607040" cy="1737360"/>
          </a:xfrm>
          <a:prstGeom prst="roundRect">
            <a:avLst>
              <a:gd name="adj" fmla="val 3158"/>
            </a:avLst>
          </a:prstGeom>
          <a:solidFill>
            <a:srgbClr val="13315C"/>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20" name="Text 18"/>
          <p:cNvSpPr/>
          <p:nvPr/>
        </p:nvSpPr>
        <p:spPr>
          <a:xfrm>
            <a:off x="1097280" y="4434840"/>
            <a:ext cx="10058400" cy="457200"/>
          </a:xfrm>
          <a:prstGeom prst="rect">
            <a:avLst/>
          </a:prstGeom>
          <a:noFill/>
          <a:ln/>
        </p:spPr>
        <p:txBody>
          <a:bodyPr wrap="square" lIns="0" tIns="0" rIns="0" bIns="0" rtlCol="0" anchor="ctr"/>
          <a:lstStyle/>
          <a:p>
            <a:pPr indent="0" marL="0">
              <a:buNone/>
            </a:pPr>
            <a:r>
              <a:rPr lang="en-US" sz="2100" b="1" dirty="0">
                <a:solidFill>
                  <a:srgbClr val="0FB5A8"/>
                </a:solidFill>
                <a:latin typeface="Georgia" pitchFamily="34" charset="0"/>
                <a:ea typeface="Georgia" pitchFamily="34" charset="-122"/>
                <a:cs typeface="Georgia" pitchFamily="34" charset="-120"/>
              </a:rPr>
              <a:t>The hypothesis holds.</a:t>
            </a:r>
            <a:endParaRPr lang="en-US" sz="2100" dirty="0"/>
          </a:p>
        </p:txBody>
      </p:sp>
      <p:sp>
        <p:nvSpPr>
          <p:cNvPr id="21" name="Text 19"/>
          <p:cNvSpPr/>
          <p:nvPr/>
        </p:nvSpPr>
        <p:spPr>
          <a:xfrm>
            <a:off x="1097280" y="4846320"/>
            <a:ext cx="10058400" cy="10058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 48M-parameter model that did zero training on these series achieved a lower average error than Exponential Smoothing models each tuned to their own data — in about a second of CPU inference, with no training loop at all. It also produced calibrated uncertainty bands for free.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02920" y="457200"/>
            <a:ext cx="201168" cy="201168"/>
          </a:xfrm>
          <a:prstGeom prst="rect">
            <a:avLst/>
          </a:prstGeom>
          <a:solidFill>
            <a:srgbClr val="0FB5A8"/>
          </a:solidFill>
          <a:ln/>
        </p:spPr>
      </p:sp>
      <p:sp>
        <p:nvSpPr>
          <p:cNvPr id="3" name="Text 1"/>
          <p:cNvSpPr/>
          <p:nvPr/>
        </p:nvSpPr>
        <p:spPr>
          <a:xfrm>
            <a:off x="822960" y="365760"/>
            <a:ext cx="10789920" cy="292608"/>
          </a:xfrm>
          <a:prstGeom prst="rect">
            <a:avLst/>
          </a:prstGeom>
          <a:noFill/>
          <a:ln/>
        </p:spPr>
        <p:txBody>
          <a:bodyPr wrap="square" lIns="0" tIns="0" rIns="0" bIns="0" rtlCol="0" anchor="ctr"/>
          <a:lstStyle/>
          <a:p>
            <a:pPr indent="0" marL="0">
              <a:buNone/>
            </a:pPr>
            <a:r>
              <a:rPr lang="en-US" sz="1200" b="1" spc="300" kern="0" dirty="0">
                <a:solidFill>
                  <a:srgbClr val="0FB5A8"/>
                </a:solidFill>
                <a:latin typeface="Calibri" pitchFamily="34" charset="0"/>
                <a:ea typeface="Calibri" pitchFamily="34" charset="-122"/>
                <a:cs typeface="Calibri" pitchFamily="34" charset="-120"/>
              </a:rPr>
              <a:t>MY REPRODUCTION · EVIDENCE</a:t>
            </a:r>
            <a:endParaRPr lang="en-US" sz="1200" dirty="0"/>
          </a:p>
        </p:txBody>
      </p:sp>
      <p:sp>
        <p:nvSpPr>
          <p:cNvPr id="4" name="Text 2"/>
          <p:cNvSpPr/>
          <p:nvPr/>
        </p:nvSpPr>
        <p:spPr>
          <a:xfrm>
            <a:off x="777240" y="603504"/>
            <a:ext cx="10881360" cy="777240"/>
          </a:xfrm>
          <a:prstGeom prst="rect">
            <a:avLst/>
          </a:prstGeom>
          <a:noFill/>
          <a:ln/>
        </p:spPr>
        <p:txBody>
          <a:bodyPr wrap="square" lIns="0" tIns="0" rIns="0" bIns="0" rtlCol="0" anchor="ctr"/>
          <a:lstStyle/>
          <a:p>
            <a:pPr indent="0" marL="0">
              <a:buNone/>
            </a:pPr>
            <a:r>
              <a:rPr lang="en-US" sz="3000" b="1" dirty="0">
                <a:solidFill>
                  <a:srgbClr val="0B2545"/>
                </a:solidFill>
                <a:latin typeface="Georgia" pitchFamily="34" charset="0"/>
                <a:ea typeface="Georgia" pitchFamily="34" charset="-122"/>
                <a:cs typeface="Georgia" pitchFamily="34" charset="-120"/>
              </a:rPr>
              <a:t>The clearest win: a long-horizon forecast</a:t>
            </a:r>
            <a:endParaRPr lang="en-US" sz="3000" dirty="0"/>
          </a:p>
        </p:txBody>
      </p:sp>
      <p:sp>
        <p:nvSpPr>
          <p:cNvPr id="5" name="Text 3"/>
          <p:cNvSpPr/>
          <p:nvPr/>
        </p:nvSpPr>
        <p:spPr>
          <a:xfrm>
            <a:off x="502920" y="6437376"/>
            <a:ext cx="7315200" cy="274320"/>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Time-Series Foundation Models  ·  CMPE 258 Short Story</a:t>
            </a:r>
            <a:endParaRPr lang="en-US" sz="900" dirty="0"/>
          </a:p>
        </p:txBody>
      </p:sp>
      <p:sp>
        <p:nvSpPr>
          <p:cNvPr id="6" name="Text 4"/>
          <p:cNvSpPr/>
          <p:nvPr/>
        </p:nvSpPr>
        <p:spPr>
          <a:xfrm>
            <a:off x="11338560" y="6437376"/>
            <a:ext cx="365760" cy="274320"/>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13</a:t>
            </a:r>
            <a:endParaRPr lang="en-US" sz="900" dirty="0"/>
          </a:p>
        </p:txBody>
      </p:sp>
      <p:pic>
        <p:nvPicPr>
          <p:cNvPr id="7" name="Image 0" descr="../medium_article/images/forecast_Sunspots.png">    </p:cNvPr>
          <p:cNvPicPr>
            <a:picLocks noChangeAspect="1"/>
          </p:cNvPicPr>
          <p:nvPr/>
        </p:nvPicPr>
        <p:blipFill>
          <a:blip r:embed="rId1"/>
          <a:stretch>
            <a:fillRect/>
          </a:stretch>
        </p:blipFill>
        <p:spPr>
          <a:xfrm>
            <a:off x="777240" y="2306782"/>
            <a:ext cx="7680960" cy="2793076"/>
          </a:xfrm>
          <a:prstGeom prst="rect">
            <a:avLst/>
          </a:prstGeom>
        </p:spPr>
      </p:pic>
      <p:sp>
        <p:nvSpPr>
          <p:cNvPr id="8" name="Shape 5"/>
          <p:cNvSpPr/>
          <p:nvPr/>
        </p:nvSpPr>
        <p:spPr>
          <a:xfrm>
            <a:off x="8686800" y="1554480"/>
            <a:ext cx="2834640" cy="4389120"/>
          </a:xfrm>
          <a:prstGeom prst="roundRect">
            <a:avLst>
              <a:gd name="adj" fmla="val 1935"/>
            </a:avLst>
          </a:prstGeom>
          <a:solidFill>
            <a:srgbClr val="0B2545"/>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9" name="Text 6"/>
          <p:cNvSpPr/>
          <p:nvPr/>
        </p:nvSpPr>
        <p:spPr>
          <a:xfrm>
            <a:off x="8915400" y="1737360"/>
            <a:ext cx="2377440" cy="365760"/>
          </a:xfrm>
          <a:prstGeom prst="rect">
            <a:avLst/>
          </a:prstGeom>
          <a:noFill/>
          <a:ln/>
        </p:spPr>
        <p:txBody>
          <a:bodyPr wrap="square" lIns="0" tIns="0" rIns="0" bIns="0" rtlCol="0" anchor="ctr"/>
          <a:lstStyle/>
          <a:p>
            <a:pPr indent="0" marL="0">
              <a:buNone/>
            </a:pPr>
            <a:r>
              <a:rPr lang="en-US" sz="1800" b="1" dirty="0">
                <a:solidFill>
                  <a:srgbClr val="0FB5A8"/>
                </a:solidFill>
                <a:latin typeface="Georgia" pitchFamily="34" charset="0"/>
                <a:ea typeface="Georgia" pitchFamily="34" charset="-122"/>
                <a:cs typeface="Georgia" pitchFamily="34" charset="-120"/>
              </a:rPr>
              <a:t>Sunspots</a:t>
            </a:r>
            <a:endParaRPr lang="en-US" sz="1800" dirty="0"/>
          </a:p>
        </p:txBody>
      </p:sp>
      <p:sp>
        <p:nvSpPr>
          <p:cNvPr id="10" name="Text 7"/>
          <p:cNvSpPr/>
          <p:nvPr/>
        </p:nvSpPr>
        <p:spPr>
          <a:xfrm>
            <a:off x="8915400" y="2103120"/>
            <a:ext cx="2377440" cy="320040"/>
          </a:xfrm>
          <a:prstGeom prst="rect">
            <a:avLst/>
          </a:prstGeom>
          <a:noFill/>
          <a:ln/>
        </p:spPr>
        <p:txBody>
          <a:bodyPr wrap="square" lIns="0" tIns="0" rIns="0" bIns="0" rtlCol="0" anchor="ctr"/>
          <a:lstStyle/>
          <a:p>
            <a:pPr indent="0" marL="0">
              <a:buNone/>
            </a:pPr>
            <a:r>
              <a:rPr lang="en-US" sz="1200" dirty="0">
                <a:solidFill>
                  <a:srgbClr val="9DB2C9"/>
                </a:solidFill>
                <a:latin typeface="Calibri" pitchFamily="34" charset="0"/>
                <a:ea typeface="Calibri" pitchFamily="34" charset="-122"/>
                <a:cs typeface="Calibri" pitchFamily="34" charset="-120"/>
              </a:rPr>
              <a:t>60-step horizon</a:t>
            </a:r>
            <a:endParaRPr lang="en-US" sz="1200" dirty="0"/>
          </a:p>
        </p:txBody>
      </p:sp>
      <p:sp>
        <p:nvSpPr>
          <p:cNvPr id="11" name="Text 8"/>
          <p:cNvSpPr/>
          <p:nvPr/>
        </p:nvSpPr>
        <p:spPr>
          <a:xfrm>
            <a:off x="8915400" y="2606040"/>
            <a:ext cx="2423160" cy="2377440"/>
          </a:xfrm>
          <a:prstGeom prst="rect">
            <a:avLst/>
          </a:prstGeom>
          <a:noFill/>
          <a:ln/>
        </p:spPr>
        <p:txBody>
          <a:bodyPr wrap="square" lIns="0" tIns="0" rIns="0" bIns="0" rtlCol="0" anchor="ctr"/>
          <a:lstStyle/>
          <a:p>
            <a:pPr indent="0" marL="0">
              <a:spcAft>
                <a:spcPts val="1100"/>
              </a:spcAft>
              <a:buNone/>
            </a:pPr>
            <a:r>
              <a:rPr lang="en-US" sz="1300" dirty="0">
                <a:solidFill>
                  <a:srgbClr val="FFFFFF"/>
                </a:solidFill>
                <a:latin typeface="Calibri" pitchFamily="34" charset="0"/>
                <a:ea typeface="Calibri" pitchFamily="34" charset="-122"/>
                <a:cs typeface="Calibri" pitchFamily="34" charset="-120"/>
              </a:rPr>
              <a:t>Chronos (blue) anticipates the falling solar cycle.</a:t>
            </a:r>
            <a:endParaRPr lang="en-US" sz="1300" dirty="0"/>
          </a:p>
          <a:p>
            <a:pPr indent="0" marL="0">
              <a:spcAft>
                <a:spcPts val="1100"/>
              </a:spcAft>
              <a:buNone/>
            </a:pPr>
            <a:r>
              <a:rPr lang="en-US" sz="1300" dirty="0">
                <a:solidFill>
                  <a:srgbClr val="FFFFFF"/>
                </a:solidFill>
                <a:latin typeface="Calibri" pitchFamily="34" charset="0"/>
                <a:ea typeface="Calibri" pitchFamily="34" charset="-122"/>
                <a:cs typeface="Calibri" pitchFamily="34" charset="-120"/>
              </a:rPr>
              <a:t>Classical baselines collapse to a flat line.</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The shaded band is its 80% prediction interval — uncertainty for free.</a:t>
            </a:r>
            <a:endParaRPr lang="en-US" sz="1300" dirty="0"/>
          </a:p>
        </p:txBody>
      </p:sp>
      <p:sp>
        <p:nvSpPr>
          <p:cNvPr id="12" name="Shape 9"/>
          <p:cNvSpPr/>
          <p:nvPr/>
        </p:nvSpPr>
        <p:spPr>
          <a:xfrm>
            <a:off x="8915400" y="5074920"/>
            <a:ext cx="2331720" cy="0"/>
          </a:xfrm>
          <a:prstGeom prst="line">
            <a:avLst/>
          </a:prstGeom>
          <a:noFill/>
          <a:ln w="12700">
            <a:solidFill>
              <a:srgbClr val="0FB5A8"/>
            </a:solidFill>
            <a:prstDash val="solid"/>
          </a:ln>
        </p:spPr>
      </p:sp>
      <p:sp>
        <p:nvSpPr>
          <p:cNvPr id="13" name="Text 10"/>
          <p:cNvSpPr/>
          <p:nvPr/>
        </p:nvSpPr>
        <p:spPr>
          <a:xfrm>
            <a:off x="8915400" y="5212080"/>
            <a:ext cx="2377440" cy="640080"/>
          </a:xfrm>
          <a:prstGeom prst="rect">
            <a:avLst/>
          </a:prstGeom>
          <a:noFill/>
          <a:ln/>
        </p:spPr>
        <p:txBody>
          <a:bodyPr wrap="square" lIns="0" tIns="0" rIns="0" bIns="0" rtlCol="0" anchor="ctr"/>
          <a:lstStyle/>
          <a:p>
            <a:pPr indent="0" marL="0">
              <a:buNone/>
            </a:pPr>
            <a:r>
              <a:rPr lang="en-US" sz="1250" i="1" dirty="0">
                <a:solidFill>
                  <a:srgbClr val="0FB5A8"/>
                </a:solidFill>
                <a:latin typeface="Georgia" pitchFamily="34" charset="0"/>
                <a:ea typeface="Georgia" pitchFamily="34" charset="-122"/>
                <a:cs typeface="Georgia" pitchFamily="34" charset="-120"/>
              </a:rPr>
              <a:t>MASE 1.01 — the single best score in the whole experiment.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02920" y="457200"/>
            <a:ext cx="201168" cy="201168"/>
          </a:xfrm>
          <a:prstGeom prst="rect">
            <a:avLst/>
          </a:prstGeom>
          <a:solidFill>
            <a:srgbClr val="0FB5A8"/>
          </a:solidFill>
          <a:ln/>
        </p:spPr>
      </p:sp>
      <p:sp>
        <p:nvSpPr>
          <p:cNvPr id="3" name="Text 1"/>
          <p:cNvSpPr/>
          <p:nvPr/>
        </p:nvSpPr>
        <p:spPr>
          <a:xfrm>
            <a:off x="822960" y="365760"/>
            <a:ext cx="10789920" cy="292608"/>
          </a:xfrm>
          <a:prstGeom prst="rect">
            <a:avLst/>
          </a:prstGeom>
          <a:noFill/>
          <a:ln/>
        </p:spPr>
        <p:txBody>
          <a:bodyPr wrap="square" lIns="0" tIns="0" rIns="0" bIns="0" rtlCol="0" anchor="ctr"/>
          <a:lstStyle/>
          <a:p>
            <a:pPr indent="0" marL="0">
              <a:buNone/>
            </a:pPr>
            <a:r>
              <a:rPr lang="en-US" sz="1200" b="1" spc="300" kern="0" dirty="0">
                <a:solidFill>
                  <a:srgbClr val="0FB5A8"/>
                </a:solidFill>
                <a:latin typeface="Calibri" pitchFamily="34" charset="0"/>
                <a:ea typeface="Calibri" pitchFamily="34" charset="-122"/>
                <a:cs typeface="Calibri" pitchFamily="34" charset="-120"/>
              </a:rPr>
              <a:t>MY REPRODUCTION · HONEST READ</a:t>
            </a:r>
            <a:endParaRPr lang="en-US" sz="1200" dirty="0"/>
          </a:p>
        </p:txBody>
      </p:sp>
      <p:sp>
        <p:nvSpPr>
          <p:cNvPr id="4" name="Text 2"/>
          <p:cNvSpPr/>
          <p:nvPr/>
        </p:nvSpPr>
        <p:spPr>
          <a:xfrm>
            <a:off x="777240" y="603504"/>
            <a:ext cx="10881360" cy="777240"/>
          </a:xfrm>
          <a:prstGeom prst="rect">
            <a:avLst/>
          </a:prstGeom>
          <a:noFill/>
          <a:ln/>
        </p:spPr>
        <p:txBody>
          <a:bodyPr wrap="square" lIns="0" tIns="0" rIns="0" bIns="0" rtlCol="0" anchor="ctr"/>
          <a:lstStyle/>
          <a:p>
            <a:pPr indent="0" marL="0">
              <a:buNone/>
            </a:pPr>
            <a:r>
              <a:rPr lang="en-US" sz="3000" b="1" dirty="0">
                <a:solidFill>
                  <a:srgbClr val="0B2545"/>
                </a:solidFill>
                <a:latin typeface="Georgia" pitchFamily="34" charset="0"/>
                <a:ea typeface="Georgia" pitchFamily="34" charset="-122"/>
                <a:cs typeface="Georgia" pitchFamily="34" charset="-120"/>
              </a:rPr>
              <a:t>Strong — but not magic</a:t>
            </a:r>
            <a:endParaRPr lang="en-US" sz="3000" dirty="0"/>
          </a:p>
        </p:txBody>
      </p:sp>
      <p:sp>
        <p:nvSpPr>
          <p:cNvPr id="5" name="Text 3"/>
          <p:cNvSpPr/>
          <p:nvPr/>
        </p:nvSpPr>
        <p:spPr>
          <a:xfrm>
            <a:off x="502920" y="6437376"/>
            <a:ext cx="7315200" cy="274320"/>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Time-Series Foundation Models  ·  CMPE 258 Short Story</a:t>
            </a:r>
            <a:endParaRPr lang="en-US" sz="900" dirty="0"/>
          </a:p>
        </p:txBody>
      </p:sp>
      <p:sp>
        <p:nvSpPr>
          <p:cNvPr id="6" name="Text 4"/>
          <p:cNvSpPr/>
          <p:nvPr/>
        </p:nvSpPr>
        <p:spPr>
          <a:xfrm>
            <a:off x="11338560" y="6437376"/>
            <a:ext cx="365760" cy="274320"/>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14</a:t>
            </a:r>
            <a:endParaRPr lang="en-US" sz="900" dirty="0"/>
          </a:p>
        </p:txBody>
      </p:sp>
      <p:pic>
        <p:nvPicPr>
          <p:cNvPr id="7" name="Image 0" descr="../medium_article/images/skill_score.png">    </p:cNvPr>
          <p:cNvPicPr>
            <a:picLocks noChangeAspect="1"/>
          </p:cNvPicPr>
          <p:nvPr/>
        </p:nvPicPr>
        <p:blipFill>
          <a:blip r:embed="rId1"/>
          <a:stretch>
            <a:fillRect/>
          </a:stretch>
        </p:blipFill>
        <p:spPr>
          <a:xfrm>
            <a:off x="777240" y="2280920"/>
            <a:ext cx="6400800" cy="2844800"/>
          </a:xfrm>
          <a:prstGeom prst="rect">
            <a:avLst/>
          </a:prstGeom>
        </p:spPr>
      </p:pic>
      <p:sp>
        <p:nvSpPr>
          <p:cNvPr id="8" name="Shape 5"/>
          <p:cNvSpPr/>
          <p:nvPr/>
        </p:nvSpPr>
        <p:spPr>
          <a:xfrm>
            <a:off x="7406640" y="1600200"/>
            <a:ext cx="4023360" cy="2057400"/>
          </a:xfrm>
          <a:prstGeom prst="roundRect">
            <a:avLst>
              <a:gd name="adj" fmla="val 2667"/>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9" name="Text 6"/>
          <p:cNvSpPr/>
          <p:nvPr/>
        </p:nvSpPr>
        <p:spPr>
          <a:xfrm>
            <a:off x="7635240" y="1737360"/>
            <a:ext cx="3566160" cy="365760"/>
          </a:xfrm>
          <a:prstGeom prst="rect">
            <a:avLst/>
          </a:prstGeom>
          <a:noFill/>
          <a:ln/>
        </p:spPr>
        <p:txBody>
          <a:bodyPr wrap="square" lIns="0" tIns="0" rIns="0" bIns="0" rtlCol="0" anchor="ctr"/>
          <a:lstStyle/>
          <a:p>
            <a:pPr indent="0" marL="0">
              <a:buNone/>
            </a:pPr>
            <a:r>
              <a:rPr lang="en-US" sz="1600" b="1" dirty="0">
                <a:solidFill>
                  <a:srgbClr val="0FB5A8"/>
                </a:solidFill>
                <a:latin typeface="Georgia" pitchFamily="34" charset="0"/>
                <a:ea typeface="Georgia" pitchFamily="34" charset="-122"/>
                <a:cs typeface="Georgia" pitchFamily="34" charset="-120"/>
              </a:rPr>
              <a:t>Where it wins</a:t>
            </a:r>
            <a:endParaRPr lang="en-US" sz="1600" dirty="0"/>
          </a:p>
        </p:txBody>
      </p:sp>
      <p:sp>
        <p:nvSpPr>
          <p:cNvPr id="10" name="Text 7"/>
          <p:cNvSpPr/>
          <p:nvPr/>
        </p:nvSpPr>
        <p:spPr>
          <a:xfrm>
            <a:off x="7635240" y="2103120"/>
            <a:ext cx="3566160" cy="1463040"/>
          </a:xfrm>
          <a:prstGeom prst="rect">
            <a:avLst/>
          </a:prstGeom>
          <a:noFill/>
          <a:ln/>
        </p:spPr>
        <p:txBody>
          <a:bodyPr wrap="square" lIns="0" tIns="0" rIns="0" bIns="0" rtlCol="0" anchor="ctr"/>
          <a:lstStyle/>
          <a:p>
            <a:pPr indent="0" marL="0">
              <a:buNone/>
            </a:pPr>
            <a:r>
              <a:rPr lang="en-US" sz="1250" dirty="0">
                <a:solidFill>
                  <a:srgbClr val="1B2A3A"/>
                </a:solidFill>
                <a:latin typeface="Calibri" pitchFamily="34" charset="0"/>
                <a:ea typeface="Calibri" pitchFamily="34" charset="-122"/>
                <a:cs typeface="Calibri" pitchFamily="34" charset="-120"/>
              </a:rPr>
              <a:t>Long horizons and rich structure — sunspots, airline passengers. Broad pre-training pays off exactly where classical methods struggle.</a:t>
            </a:r>
            <a:endParaRPr lang="en-US" sz="1250" dirty="0"/>
          </a:p>
        </p:txBody>
      </p:sp>
      <p:sp>
        <p:nvSpPr>
          <p:cNvPr id="11" name="Shape 8"/>
          <p:cNvSpPr/>
          <p:nvPr/>
        </p:nvSpPr>
        <p:spPr>
          <a:xfrm>
            <a:off x="7406640" y="3840480"/>
            <a:ext cx="4023360" cy="2103120"/>
          </a:xfrm>
          <a:prstGeom prst="roundRect">
            <a:avLst>
              <a:gd name="adj" fmla="val 2609"/>
            </a:avLst>
          </a:prstGeom>
          <a:solidFill>
            <a:srgbClr val="0B2545"/>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12" name="Text 9"/>
          <p:cNvSpPr/>
          <p:nvPr/>
        </p:nvSpPr>
        <p:spPr>
          <a:xfrm>
            <a:off x="7635240" y="3977640"/>
            <a:ext cx="3566160" cy="365760"/>
          </a:xfrm>
          <a:prstGeom prst="rect">
            <a:avLst/>
          </a:prstGeom>
          <a:noFill/>
          <a:ln/>
        </p:spPr>
        <p:txBody>
          <a:bodyPr wrap="square" lIns="0" tIns="0" rIns="0" bIns="0" rtlCol="0" anchor="ctr"/>
          <a:lstStyle/>
          <a:p>
            <a:pPr indent="0" marL="0">
              <a:buNone/>
            </a:pPr>
            <a:r>
              <a:rPr lang="en-US" sz="1600" b="1" dirty="0">
                <a:solidFill>
                  <a:srgbClr val="EF6F6C"/>
                </a:solidFill>
                <a:latin typeface="Georgia" pitchFamily="34" charset="0"/>
                <a:ea typeface="Georgia" pitchFamily="34" charset="-122"/>
                <a:cs typeface="Georgia" pitchFamily="34" charset="-120"/>
              </a:rPr>
              <a:t>Where it doesn't</a:t>
            </a:r>
            <a:endParaRPr lang="en-US" sz="1600" dirty="0"/>
          </a:p>
        </p:txBody>
      </p:sp>
      <p:sp>
        <p:nvSpPr>
          <p:cNvPr id="13" name="Text 10"/>
          <p:cNvSpPr/>
          <p:nvPr/>
        </p:nvSpPr>
        <p:spPr>
          <a:xfrm>
            <a:off x="7635240" y="4343400"/>
            <a:ext cx="3566160" cy="155448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On the near-stationary daily-temperature series, the plain Naive forecast won. The survey's “no free lunch” caveat in miniature — an honest review must say so.</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02920" y="457200"/>
            <a:ext cx="201168" cy="201168"/>
          </a:xfrm>
          <a:prstGeom prst="rect">
            <a:avLst/>
          </a:prstGeom>
          <a:solidFill>
            <a:srgbClr val="0FB5A8"/>
          </a:solidFill>
          <a:ln/>
        </p:spPr>
      </p:sp>
      <p:sp>
        <p:nvSpPr>
          <p:cNvPr id="3" name="Text 1"/>
          <p:cNvSpPr/>
          <p:nvPr/>
        </p:nvSpPr>
        <p:spPr>
          <a:xfrm>
            <a:off x="822960" y="365760"/>
            <a:ext cx="10789920" cy="292608"/>
          </a:xfrm>
          <a:prstGeom prst="rect">
            <a:avLst/>
          </a:prstGeom>
          <a:noFill/>
          <a:ln/>
        </p:spPr>
        <p:txBody>
          <a:bodyPr wrap="square" lIns="0" tIns="0" rIns="0" bIns="0" rtlCol="0" anchor="ctr"/>
          <a:lstStyle/>
          <a:p>
            <a:pPr indent="0" marL="0">
              <a:buNone/>
            </a:pPr>
            <a:r>
              <a:rPr lang="en-US" sz="1200" b="1" spc="300" kern="0" dirty="0">
                <a:solidFill>
                  <a:srgbClr val="0FB5A8"/>
                </a:solidFill>
                <a:latin typeface="Calibri" pitchFamily="34" charset="0"/>
                <a:ea typeface="Calibri" pitchFamily="34" charset="-122"/>
                <a:cs typeface="Calibri" pitchFamily="34" charset="-120"/>
              </a:rPr>
              <a:t>THE CATCH</a:t>
            </a:r>
            <a:endParaRPr lang="en-US" sz="1200" dirty="0"/>
          </a:p>
        </p:txBody>
      </p:sp>
      <p:sp>
        <p:nvSpPr>
          <p:cNvPr id="4" name="Text 2"/>
          <p:cNvSpPr/>
          <p:nvPr/>
        </p:nvSpPr>
        <p:spPr>
          <a:xfrm>
            <a:off x="777240" y="603504"/>
            <a:ext cx="10881360" cy="777240"/>
          </a:xfrm>
          <a:prstGeom prst="rect">
            <a:avLst/>
          </a:prstGeom>
          <a:noFill/>
          <a:ln/>
        </p:spPr>
        <p:txBody>
          <a:bodyPr wrap="square" lIns="0" tIns="0" rIns="0" bIns="0" rtlCol="0" anchor="ctr"/>
          <a:lstStyle/>
          <a:p>
            <a:pPr indent="0" marL="0">
              <a:buNone/>
            </a:pPr>
            <a:r>
              <a:rPr lang="en-US" sz="3000" b="1" dirty="0">
                <a:solidFill>
                  <a:srgbClr val="0B2545"/>
                </a:solidFill>
                <a:latin typeface="Georgia" pitchFamily="34" charset="0"/>
                <a:ea typeface="Georgia" pitchFamily="34" charset="-122"/>
                <a:cs typeface="Georgia" pitchFamily="34" charset="-120"/>
              </a:rPr>
              <a:t>Can we even trust the benchmarks?</a:t>
            </a:r>
            <a:endParaRPr lang="en-US" sz="3000" dirty="0"/>
          </a:p>
        </p:txBody>
      </p:sp>
      <p:sp>
        <p:nvSpPr>
          <p:cNvPr id="5" name="Text 3"/>
          <p:cNvSpPr/>
          <p:nvPr/>
        </p:nvSpPr>
        <p:spPr>
          <a:xfrm>
            <a:off x="502920" y="6437376"/>
            <a:ext cx="7315200" cy="274320"/>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Time-Series Foundation Models  ·  CMPE 258 Short Story</a:t>
            </a:r>
            <a:endParaRPr lang="en-US" sz="900" dirty="0"/>
          </a:p>
        </p:txBody>
      </p:sp>
      <p:sp>
        <p:nvSpPr>
          <p:cNvPr id="6" name="Text 4"/>
          <p:cNvSpPr/>
          <p:nvPr/>
        </p:nvSpPr>
        <p:spPr>
          <a:xfrm>
            <a:off x="11338560" y="6437376"/>
            <a:ext cx="365760" cy="274320"/>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15</a:t>
            </a:r>
            <a:endParaRPr lang="en-US" sz="900" dirty="0"/>
          </a:p>
        </p:txBody>
      </p:sp>
      <p:pic>
        <p:nvPicPr>
          <p:cNvPr id="7" name="Image 0" descr="../medium_article/images/fig5_contamination.png">    </p:cNvPr>
          <p:cNvPicPr>
            <a:picLocks noChangeAspect="1"/>
          </p:cNvPicPr>
          <p:nvPr/>
        </p:nvPicPr>
        <p:blipFill>
          <a:blip r:embed="rId1"/>
          <a:stretch>
            <a:fillRect/>
          </a:stretch>
        </p:blipFill>
        <p:spPr>
          <a:xfrm>
            <a:off x="777240" y="2400174"/>
            <a:ext cx="6858000" cy="2514851"/>
          </a:xfrm>
          <a:prstGeom prst="rect">
            <a:avLst/>
          </a:prstGeom>
        </p:spPr>
      </p:pic>
      <p:sp>
        <p:nvSpPr>
          <p:cNvPr id="8" name="Shape 5"/>
          <p:cNvSpPr/>
          <p:nvPr/>
        </p:nvSpPr>
        <p:spPr>
          <a:xfrm>
            <a:off x="7909560" y="1508760"/>
            <a:ext cx="3611880" cy="4434840"/>
          </a:xfrm>
          <a:prstGeom prst="roundRect">
            <a:avLst>
              <a:gd name="adj" fmla="val 1519"/>
            </a:avLst>
          </a:prstGeom>
          <a:solidFill>
            <a:srgbClr val="0B2545"/>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9" name="Text 6"/>
          <p:cNvSpPr/>
          <p:nvPr/>
        </p:nvSpPr>
        <p:spPr>
          <a:xfrm>
            <a:off x="8183880" y="1691640"/>
            <a:ext cx="3108960" cy="640080"/>
          </a:xfrm>
          <a:prstGeom prst="rect">
            <a:avLst/>
          </a:prstGeom>
          <a:noFill/>
          <a:ln/>
        </p:spPr>
        <p:txBody>
          <a:bodyPr wrap="square" lIns="0" tIns="0" rIns="0" bIns="0" rtlCol="0" anchor="ctr"/>
          <a:lstStyle/>
          <a:p>
            <a:pPr indent="0" marL="0">
              <a:buNone/>
            </a:pPr>
            <a:r>
              <a:rPr lang="en-US" sz="1700" b="1" dirty="0">
                <a:solidFill>
                  <a:srgbClr val="EF6F6C"/>
                </a:solidFill>
                <a:latin typeface="Georgia" pitchFamily="34" charset="0"/>
                <a:ea typeface="Georgia" pitchFamily="34" charset="-122"/>
                <a:cs typeface="Georgia" pitchFamily="34" charset="-120"/>
              </a:rPr>
              <a:t>Test-set contamination</a:t>
            </a:r>
            <a:endParaRPr lang="en-US" sz="1700" dirty="0"/>
          </a:p>
        </p:txBody>
      </p:sp>
      <p:sp>
        <p:nvSpPr>
          <p:cNvPr id="10" name="Text 7"/>
          <p:cNvSpPr/>
          <p:nvPr/>
        </p:nvSpPr>
        <p:spPr>
          <a:xfrm>
            <a:off x="8183880" y="2395728"/>
            <a:ext cx="3154680" cy="2423160"/>
          </a:xfrm>
          <a:prstGeom prst="rect">
            <a:avLst/>
          </a:prstGeom>
          <a:noFill/>
          <a:ln/>
        </p:spPr>
        <p:txBody>
          <a:bodyPr wrap="square" lIns="0" tIns="0" rIns="0" bIns="0" rtlCol="0" anchor="ctr"/>
          <a:lstStyle/>
          <a:p>
            <a:pPr indent="0" marL="0">
              <a:spcAft>
                <a:spcPts val="1000"/>
              </a:spcAft>
              <a:buNone/>
            </a:pPr>
            <a:r>
              <a:rPr lang="en-US" sz="1250" dirty="0">
                <a:solidFill>
                  <a:srgbClr val="FFFFFF"/>
                </a:solidFill>
                <a:latin typeface="Calibri" pitchFamily="34" charset="0"/>
                <a:ea typeface="Calibri" pitchFamily="34" charset="-122"/>
                <a:cs typeface="Calibri" pitchFamily="34" charset="-120"/>
              </a:rPr>
              <a:t>If a model pre-trains on “every public dataset,” the benchmark may already be in its training data.</a:t>
            </a:r>
            <a:endParaRPr lang="en-US" sz="1250" dirty="0"/>
          </a:p>
          <a:p>
            <a:pPr indent="0" marL="0">
              <a:spcAft>
                <a:spcPts val="1000"/>
              </a:spcAft>
              <a:buNone/>
            </a:pPr>
            <a:r>
              <a:rPr lang="en-US" sz="1250" b="1" dirty="0">
                <a:solidFill>
                  <a:srgbClr val="FFFFFF"/>
                </a:solidFill>
                <a:latin typeface="Calibri" pitchFamily="34" charset="0"/>
                <a:ea typeface="Calibri" pitchFamily="34" charset="-122"/>
                <a:cs typeface="Calibri" pitchFamily="34" charset="-120"/>
              </a:rPr>
              <a:t>Only 7% of datasets were never used for pre-training or fine-tuning by some model.</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0.1% deliberate leakage flattered Moirai by up to 32 MAPE points — and bigger models memorized more.</a:t>
            </a:r>
            <a:endParaRPr lang="en-US" sz="1250" dirty="0"/>
          </a:p>
        </p:txBody>
      </p:sp>
      <p:sp>
        <p:nvSpPr>
          <p:cNvPr id="11" name="Shape 8"/>
          <p:cNvSpPr/>
          <p:nvPr/>
        </p:nvSpPr>
        <p:spPr>
          <a:xfrm>
            <a:off x="8183880" y="4892040"/>
            <a:ext cx="3108960" cy="0"/>
          </a:xfrm>
          <a:prstGeom prst="line">
            <a:avLst/>
          </a:prstGeom>
          <a:noFill/>
          <a:ln w="12700">
            <a:solidFill>
              <a:srgbClr val="EF6F6C"/>
            </a:solidFill>
            <a:prstDash val="solid"/>
          </a:ln>
        </p:spPr>
      </p:sp>
      <p:sp>
        <p:nvSpPr>
          <p:cNvPr id="12" name="Text 9"/>
          <p:cNvSpPr/>
          <p:nvPr/>
        </p:nvSpPr>
        <p:spPr>
          <a:xfrm>
            <a:off x="8183880" y="5029200"/>
            <a:ext cx="3108960" cy="274320"/>
          </a:xfrm>
          <a:prstGeom prst="rect">
            <a:avLst/>
          </a:prstGeom>
          <a:noFill/>
          <a:ln/>
        </p:spPr>
        <p:txBody>
          <a:bodyPr wrap="square" lIns="0" tIns="0" rIns="0" bIns="0" rtlCol="0" anchor="ctr"/>
          <a:lstStyle/>
          <a:p>
            <a:pPr indent="0" marL="0">
              <a:buNone/>
            </a:pPr>
            <a:r>
              <a:rPr lang="en-US" sz="1050" b="1" spc="200" kern="0" dirty="0">
                <a:solidFill>
                  <a:srgbClr val="EF6F6C"/>
                </a:solidFill>
                <a:latin typeface="Calibri" pitchFamily="34" charset="0"/>
                <a:ea typeface="Calibri" pitchFamily="34" charset="-122"/>
                <a:cs typeface="Calibri" pitchFamily="34" charset="-120"/>
              </a:rPr>
              <a:t>THE FIX</a:t>
            </a:r>
            <a:endParaRPr lang="en-US" sz="1050" dirty="0"/>
          </a:p>
        </p:txBody>
      </p:sp>
      <p:sp>
        <p:nvSpPr>
          <p:cNvPr id="13" name="Text 10"/>
          <p:cNvSpPr/>
          <p:nvPr/>
        </p:nvSpPr>
        <p:spPr>
          <a:xfrm>
            <a:off x="8183880" y="5303520"/>
            <a:ext cx="3154680" cy="59436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A continuously advancing temporal split — the test set is always genuine, unseen future.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02920" y="457200"/>
            <a:ext cx="201168" cy="201168"/>
          </a:xfrm>
          <a:prstGeom prst="rect">
            <a:avLst/>
          </a:prstGeom>
          <a:solidFill>
            <a:srgbClr val="0FB5A8"/>
          </a:solidFill>
          <a:ln/>
        </p:spPr>
      </p:sp>
      <p:sp>
        <p:nvSpPr>
          <p:cNvPr id="3" name="Text 1"/>
          <p:cNvSpPr/>
          <p:nvPr/>
        </p:nvSpPr>
        <p:spPr>
          <a:xfrm>
            <a:off x="822960" y="365760"/>
            <a:ext cx="10789920" cy="292608"/>
          </a:xfrm>
          <a:prstGeom prst="rect">
            <a:avLst/>
          </a:prstGeom>
          <a:noFill/>
          <a:ln/>
        </p:spPr>
        <p:txBody>
          <a:bodyPr wrap="square" lIns="0" tIns="0" rIns="0" bIns="0" rtlCol="0" anchor="ctr"/>
          <a:lstStyle/>
          <a:p>
            <a:pPr indent="0" marL="0">
              <a:buNone/>
            </a:pPr>
            <a:r>
              <a:rPr lang="en-US" sz="1200" b="1" spc="300" kern="0" dirty="0">
                <a:solidFill>
                  <a:srgbClr val="0FB5A8"/>
                </a:solidFill>
                <a:latin typeface="Calibri" pitchFamily="34" charset="0"/>
                <a:ea typeface="Calibri" pitchFamily="34" charset="-122"/>
                <a:cs typeface="Calibri" pitchFamily="34" charset="-120"/>
              </a:rPr>
              <a:t>MY TWO CENTS</a:t>
            </a:r>
            <a:endParaRPr lang="en-US" sz="1200" dirty="0"/>
          </a:p>
        </p:txBody>
      </p:sp>
      <p:sp>
        <p:nvSpPr>
          <p:cNvPr id="4" name="Text 2"/>
          <p:cNvSpPr/>
          <p:nvPr/>
        </p:nvSpPr>
        <p:spPr>
          <a:xfrm>
            <a:off x="777240" y="603504"/>
            <a:ext cx="10881360" cy="777240"/>
          </a:xfrm>
          <a:prstGeom prst="rect">
            <a:avLst/>
          </a:prstGeom>
          <a:noFill/>
          <a:ln/>
        </p:spPr>
        <p:txBody>
          <a:bodyPr wrap="square" lIns="0" tIns="0" rIns="0" bIns="0" rtlCol="0" anchor="ctr"/>
          <a:lstStyle/>
          <a:p>
            <a:pPr indent="0" marL="0">
              <a:buNone/>
            </a:pPr>
            <a:r>
              <a:rPr lang="en-US" sz="3000" b="1" dirty="0">
                <a:solidFill>
                  <a:srgbClr val="0B2545"/>
                </a:solidFill>
                <a:latin typeface="Georgia" pitchFamily="34" charset="0"/>
                <a:ea typeface="Georgia" pitchFamily="34" charset="-122"/>
                <a:cs typeface="Georgia" pitchFamily="34" charset="-120"/>
              </a:rPr>
              <a:t>What I actually think after reading three surveys</a:t>
            </a:r>
            <a:endParaRPr lang="en-US" sz="3000" dirty="0"/>
          </a:p>
        </p:txBody>
      </p:sp>
      <p:sp>
        <p:nvSpPr>
          <p:cNvPr id="5" name="Text 3"/>
          <p:cNvSpPr/>
          <p:nvPr/>
        </p:nvSpPr>
        <p:spPr>
          <a:xfrm>
            <a:off x="502920" y="6437376"/>
            <a:ext cx="7315200" cy="274320"/>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Time-Series Foundation Models  ·  CMPE 258 Short Story</a:t>
            </a:r>
            <a:endParaRPr lang="en-US" sz="900" dirty="0"/>
          </a:p>
        </p:txBody>
      </p:sp>
      <p:sp>
        <p:nvSpPr>
          <p:cNvPr id="6" name="Text 4"/>
          <p:cNvSpPr/>
          <p:nvPr/>
        </p:nvSpPr>
        <p:spPr>
          <a:xfrm>
            <a:off x="11338560" y="6437376"/>
            <a:ext cx="365760" cy="274320"/>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16</a:t>
            </a:r>
            <a:endParaRPr lang="en-US" sz="900" dirty="0"/>
          </a:p>
        </p:txBody>
      </p:sp>
      <p:sp>
        <p:nvSpPr>
          <p:cNvPr id="7" name="Shape 5"/>
          <p:cNvSpPr/>
          <p:nvPr/>
        </p:nvSpPr>
        <p:spPr>
          <a:xfrm>
            <a:off x="777240" y="1691640"/>
            <a:ext cx="5120640" cy="1965960"/>
          </a:xfrm>
          <a:prstGeom prst="roundRect">
            <a:avLst>
              <a:gd name="adj" fmla="val 2791"/>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8" name="Shape 6"/>
          <p:cNvSpPr/>
          <p:nvPr/>
        </p:nvSpPr>
        <p:spPr>
          <a:xfrm>
            <a:off x="1005840" y="1920240"/>
            <a:ext cx="411480" cy="411480"/>
          </a:xfrm>
          <a:prstGeom prst="ellipse">
            <a:avLst/>
          </a:prstGeom>
          <a:solidFill>
            <a:srgbClr val="0FB5A8"/>
          </a:solidFill>
          <a:ln/>
        </p:spPr>
      </p:sp>
      <p:sp>
        <p:nvSpPr>
          <p:cNvPr id="9" name="Text 7"/>
          <p:cNvSpPr/>
          <p:nvPr/>
        </p:nvSpPr>
        <p:spPr>
          <a:xfrm>
            <a:off x="1005840" y="19202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0" name="Text 8"/>
          <p:cNvSpPr/>
          <p:nvPr/>
        </p:nvSpPr>
        <p:spPr>
          <a:xfrm>
            <a:off x="1554480" y="1892808"/>
            <a:ext cx="4206240" cy="640080"/>
          </a:xfrm>
          <a:prstGeom prst="rect">
            <a:avLst/>
          </a:prstGeom>
          <a:noFill/>
          <a:ln/>
        </p:spPr>
        <p:txBody>
          <a:bodyPr wrap="square" lIns="0" tIns="0" rIns="0" bIns="0" rtlCol="0" anchor="ctr"/>
          <a:lstStyle/>
          <a:p>
            <a:pPr indent="0" marL="0">
              <a:buNone/>
            </a:pPr>
            <a:r>
              <a:rPr lang="en-US" sz="1550" b="1" dirty="0">
                <a:solidFill>
                  <a:srgbClr val="0B2545"/>
                </a:solidFill>
                <a:latin typeface="Georgia" pitchFamily="34" charset="0"/>
                <a:ea typeface="Georgia" pitchFamily="34" charset="-122"/>
                <a:cs typeface="Georgia" pitchFamily="34" charset="-120"/>
              </a:rPr>
              <a:t>The zero-shot result is real</a:t>
            </a:r>
            <a:endParaRPr lang="en-US" sz="1550" dirty="0"/>
          </a:p>
        </p:txBody>
      </p:sp>
      <p:sp>
        <p:nvSpPr>
          <p:cNvPr id="11" name="Text 9"/>
          <p:cNvSpPr/>
          <p:nvPr/>
        </p:nvSpPr>
        <p:spPr>
          <a:xfrm>
            <a:off x="1051560" y="2560320"/>
            <a:ext cx="4572000" cy="960120"/>
          </a:xfrm>
          <a:prstGeom prst="rect">
            <a:avLst/>
          </a:prstGeom>
          <a:noFill/>
          <a:ln/>
        </p:spPr>
        <p:txBody>
          <a:bodyPr wrap="square" lIns="0" tIns="0" rIns="0" bIns="0" rtlCol="0" anchor="ctr"/>
          <a:lstStyle/>
          <a:p>
            <a:pPr indent="0" marL="0">
              <a:buNone/>
            </a:pPr>
            <a:r>
              <a:rPr lang="en-US" sz="1200" dirty="0">
                <a:solidFill>
                  <a:srgbClr val="1B2A3A"/>
                </a:solidFill>
                <a:latin typeface="Calibri" pitchFamily="34" charset="0"/>
                <a:ea typeface="Calibri" pitchFamily="34" charset="-122"/>
                <a:cs typeface="Calibri" pitchFamily="34" charset="-120"/>
              </a:rPr>
              <a:t>I went in skeptical — “fit per series” should win. It didn't. A TSFM is now a strong default baseline you call in one line of code.</a:t>
            </a:r>
            <a:endParaRPr lang="en-US" sz="1200" dirty="0"/>
          </a:p>
        </p:txBody>
      </p:sp>
      <p:sp>
        <p:nvSpPr>
          <p:cNvPr id="12" name="Shape 10"/>
          <p:cNvSpPr/>
          <p:nvPr/>
        </p:nvSpPr>
        <p:spPr>
          <a:xfrm>
            <a:off x="6172200" y="1691640"/>
            <a:ext cx="5120640" cy="1965960"/>
          </a:xfrm>
          <a:prstGeom prst="roundRect">
            <a:avLst>
              <a:gd name="adj" fmla="val 2791"/>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13" name="Shape 11"/>
          <p:cNvSpPr/>
          <p:nvPr/>
        </p:nvSpPr>
        <p:spPr>
          <a:xfrm>
            <a:off x="6400800" y="1920240"/>
            <a:ext cx="411480" cy="411480"/>
          </a:xfrm>
          <a:prstGeom prst="ellipse">
            <a:avLst/>
          </a:prstGeom>
          <a:solidFill>
            <a:srgbClr val="0FB5A8"/>
          </a:solidFill>
          <a:ln/>
        </p:spPr>
      </p:sp>
      <p:sp>
        <p:nvSpPr>
          <p:cNvPr id="14" name="Text 12"/>
          <p:cNvSpPr/>
          <p:nvPr/>
        </p:nvSpPr>
        <p:spPr>
          <a:xfrm>
            <a:off x="6400800" y="19202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5" name="Text 13"/>
          <p:cNvSpPr/>
          <p:nvPr/>
        </p:nvSpPr>
        <p:spPr>
          <a:xfrm>
            <a:off x="6949440" y="1892808"/>
            <a:ext cx="4206240" cy="640080"/>
          </a:xfrm>
          <a:prstGeom prst="rect">
            <a:avLst/>
          </a:prstGeom>
          <a:noFill/>
          <a:ln/>
        </p:spPr>
        <p:txBody>
          <a:bodyPr wrap="square" lIns="0" tIns="0" rIns="0" bIns="0" rtlCol="0" anchor="ctr"/>
          <a:lstStyle/>
          <a:p>
            <a:pPr indent="0" marL="0">
              <a:buNone/>
            </a:pPr>
            <a:r>
              <a:rPr lang="en-US" sz="1550" b="1" dirty="0">
                <a:solidFill>
                  <a:srgbClr val="0B2545"/>
                </a:solidFill>
                <a:latin typeface="Georgia" pitchFamily="34" charset="0"/>
                <a:ea typeface="Georgia" pitchFamily="34" charset="-122"/>
                <a:cs typeface="Georgia" pitchFamily="34" charset="-120"/>
              </a:rPr>
              <a:t>Headline numbers are softer than they look</a:t>
            </a:r>
            <a:endParaRPr lang="en-US" sz="1550" dirty="0"/>
          </a:p>
        </p:txBody>
      </p:sp>
      <p:sp>
        <p:nvSpPr>
          <p:cNvPr id="16" name="Text 14"/>
          <p:cNvSpPr/>
          <p:nvPr/>
        </p:nvSpPr>
        <p:spPr>
          <a:xfrm>
            <a:off x="6446520" y="2560320"/>
            <a:ext cx="4572000" cy="960120"/>
          </a:xfrm>
          <a:prstGeom prst="rect">
            <a:avLst/>
          </a:prstGeom>
          <a:noFill/>
          <a:ln/>
        </p:spPr>
        <p:txBody>
          <a:bodyPr wrap="square" lIns="0" tIns="0" rIns="0" bIns="0" rtlCol="0" anchor="ctr"/>
          <a:lstStyle/>
          <a:p>
            <a:pPr indent="0" marL="0">
              <a:buNone/>
            </a:pPr>
            <a:r>
              <a:rPr lang="en-US" sz="1200" dirty="0">
                <a:solidFill>
                  <a:srgbClr val="1B2A3A"/>
                </a:solidFill>
                <a:latin typeface="Calibri" pitchFamily="34" charset="0"/>
                <a:ea typeface="Calibri" pitchFamily="34" charset="-122"/>
                <a:cs typeface="Calibri" pitchFamily="34" charset="-120"/>
              </a:rPr>
              <a:t>After the contamination data, I don't fully trust any leaderboard MASE I haven't checked myself. Accuracy is solved enough; evaluation is not.</a:t>
            </a:r>
            <a:endParaRPr lang="en-US" sz="1200" dirty="0"/>
          </a:p>
        </p:txBody>
      </p:sp>
      <p:sp>
        <p:nvSpPr>
          <p:cNvPr id="17" name="Shape 15"/>
          <p:cNvSpPr/>
          <p:nvPr/>
        </p:nvSpPr>
        <p:spPr>
          <a:xfrm>
            <a:off x="777240" y="3886200"/>
            <a:ext cx="5120640" cy="1965960"/>
          </a:xfrm>
          <a:prstGeom prst="roundRect">
            <a:avLst>
              <a:gd name="adj" fmla="val 2791"/>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18" name="Shape 16"/>
          <p:cNvSpPr/>
          <p:nvPr/>
        </p:nvSpPr>
        <p:spPr>
          <a:xfrm>
            <a:off x="1005840" y="4114800"/>
            <a:ext cx="411480" cy="411480"/>
          </a:xfrm>
          <a:prstGeom prst="ellipse">
            <a:avLst/>
          </a:prstGeom>
          <a:solidFill>
            <a:srgbClr val="0FB5A8"/>
          </a:solidFill>
          <a:ln/>
        </p:spPr>
      </p:sp>
      <p:sp>
        <p:nvSpPr>
          <p:cNvPr id="19" name="Text 17"/>
          <p:cNvSpPr/>
          <p:nvPr/>
        </p:nvSpPr>
        <p:spPr>
          <a:xfrm>
            <a:off x="1005840" y="41148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0" name="Text 18"/>
          <p:cNvSpPr/>
          <p:nvPr/>
        </p:nvSpPr>
        <p:spPr>
          <a:xfrm>
            <a:off x="1554480" y="4087368"/>
            <a:ext cx="4206240" cy="640080"/>
          </a:xfrm>
          <a:prstGeom prst="rect">
            <a:avLst/>
          </a:prstGeom>
          <a:noFill/>
          <a:ln/>
        </p:spPr>
        <p:txBody>
          <a:bodyPr wrap="square" lIns="0" tIns="0" rIns="0" bIns="0" rtlCol="0" anchor="ctr"/>
          <a:lstStyle/>
          <a:p>
            <a:pPr indent="0" marL="0">
              <a:buNone/>
            </a:pPr>
            <a:r>
              <a:rPr lang="en-US" sz="1550" b="1" dirty="0">
                <a:solidFill>
                  <a:srgbClr val="0B2545"/>
                </a:solidFill>
                <a:latin typeface="Georgia" pitchFamily="34" charset="0"/>
                <a:ea typeface="Georgia" pitchFamily="34" charset="-122"/>
                <a:cs typeface="Georgia" pitchFamily="34" charset="-120"/>
              </a:rPr>
              <a:t>The vision pathway is underrated</a:t>
            </a:r>
            <a:endParaRPr lang="en-US" sz="1550" dirty="0"/>
          </a:p>
        </p:txBody>
      </p:sp>
      <p:sp>
        <p:nvSpPr>
          <p:cNvPr id="21" name="Text 19"/>
          <p:cNvSpPr/>
          <p:nvPr/>
        </p:nvSpPr>
        <p:spPr>
          <a:xfrm>
            <a:off x="1051560" y="4754880"/>
            <a:ext cx="4572000" cy="960120"/>
          </a:xfrm>
          <a:prstGeom prst="rect">
            <a:avLst/>
          </a:prstGeom>
          <a:noFill/>
          <a:ln/>
        </p:spPr>
        <p:txBody>
          <a:bodyPr wrap="square" lIns="0" tIns="0" rIns="0" bIns="0" rtlCol="0" anchor="ctr"/>
          <a:lstStyle/>
          <a:p>
            <a:pPr indent="0" marL="0">
              <a:buNone/>
            </a:pPr>
            <a:r>
              <a:rPr lang="en-US" sz="1200" dirty="0">
                <a:solidFill>
                  <a:srgbClr val="1B2A3A"/>
                </a:solidFill>
                <a:latin typeface="Calibri" pitchFamily="34" charset="0"/>
                <a:ea typeface="Calibri" pitchFamily="34" charset="-122"/>
                <a:cs typeface="Calibri" pitchFamily="34" charset="-120"/>
              </a:rPr>
              <a:t>“Render as an image, inpaint the future” sounds like a hack — but it reuses the biggest pre-trained models on Earth.</a:t>
            </a:r>
            <a:endParaRPr lang="en-US" sz="1200" dirty="0"/>
          </a:p>
        </p:txBody>
      </p:sp>
      <p:sp>
        <p:nvSpPr>
          <p:cNvPr id="22" name="Shape 20"/>
          <p:cNvSpPr/>
          <p:nvPr/>
        </p:nvSpPr>
        <p:spPr>
          <a:xfrm>
            <a:off x="6172200" y="3886200"/>
            <a:ext cx="5120640" cy="1965960"/>
          </a:xfrm>
          <a:prstGeom prst="roundRect">
            <a:avLst>
              <a:gd name="adj" fmla="val 2791"/>
            </a:avLst>
          </a:prstGeom>
          <a:solidFill>
            <a:srgbClr val="FFFFFF"/>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23" name="Shape 21"/>
          <p:cNvSpPr/>
          <p:nvPr/>
        </p:nvSpPr>
        <p:spPr>
          <a:xfrm>
            <a:off x="6400800" y="4114800"/>
            <a:ext cx="411480" cy="411480"/>
          </a:xfrm>
          <a:prstGeom prst="ellipse">
            <a:avLst/>
          </a:prstGeom>
          <a:solidFill>
            <a:srgbClr val="0FB5A8"/>
          </a:solidFill>
          <a:ln/>
        </p:spPr>
      </p:sp>
      <p:sp>
        <p:nvSpPr>
          <p:cNvPr id="24" name="Text 22"/>
          <p:cNvSpPr/>
          <p:nvPr/>
        </p:nvSpPr>
        <p:spPr>
          <a:xfrm>
            <a:off x="6400800" y="41148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5" name="Text 23"/>
          <p:cNvSpPr/>
          <p:nvPr/>
        </p:nvSpPr>
        <p:spPr>
          <a:xfrm>
            <a:off x="6949440" y="4087368"/>
            <a:ext cx="4206240" cy="640080"/>
          </a:xfrm>
          <a:prstGeom prst="rect">
            <a:avLst/>
          </a:prstGeom>
          <a:noFill/>
          <a:ln/>
        </p:spPr>
        <p:txBody>
          <a:bodyPr wrap="square" lIns="0" tIns="0" rIns="0" bIns="0" rtlCol="0" anchor="ctr"/>
          <a:lstStyle/>
          <a:p>
            <a:pPr indent="0" marL="0">
              <a:buNone/>
            </a:pPr>
            <a:r>
              <a:rPr lang="en-US" sz="1550" b="1" dirty="0">
                <a:solidFill>
                  <a:srgbClr val="0B2545"/>
                </a:solidFill>
                <a:latin typeface="Georgia" pitchFamily="34" charset="0"/>
                <a:ea typeface="Georgia" pitchFamily="34" charset="-122"/>
                <a:cs typeface="Georgia" pitchFamily="34" charset="-120"/>
              </a:rPr>
              <a:t>The frontier is trust, not scale</a:t>
            </a:r>
            <a:endParaRPr lang="en-US" sz="1550" dirty="0"/>
          </a:p>
        </p:txBody>
      </p:sp>
      <p:sp>
        <p:nvSpPr>
          <p:cNvPr id="26" name="Text 24"/>
          <p:cNvSpPr/>
          <p:nvPr/>
        </p:nvSpPr>
        <p:spPr>
          <a:xfrm>
            <a:off x="6446520" y="4754880"/>
            <a:ext cx="4572000" cy="960120"/>
          </a:xfrm>
          <a:prstGeom prst="rect">
            <a:avLst/>
          </a:prstGeom>
          <a:noFill/>
          <a:ln/>
        </p:spPr>
        <p:txBody>
          <a:bodyPr wrap="square" lIns="0" tIns="0" rIns="0" bIns="0" rtlCol="0" anchor="ctr"/>
          <a:lstStyle/>
          <a:p>
            <a:pPr indent="0" marL="0">
              <a:buNone/>
            </a:pPr>
            <a:r>
              <a:rPr lang="en-US" sz="1200" dirty="0">
                <a:solidFill>
                  <a:srgbClr val="1B2A3A"/>
                </a:solidFill>
                <a:latin typeface="Calibri" pitchFamily="34" charset="0"/>
                <a:ea typeface="Calibri" pitchFamily="34" charset="-122"/>
                <a:cs typeface="Calibri" pitchFamily="34" charset="-120"/>
              </a:rPr>
              <a:t>The next milestone isn't a 10B-parameter model. It's one you can audit: clean benchmarks, calibrated uncertainty, interpretability.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FB5A8"/>
          </a:solidFill>
          <a:ln/>
        </p:spPr>
      </p:sp>
      <p:sp>
        <p:nvSpPr>
          <p:cNvPr id="3" name="Text 1"/>
          <p:cNvSpPr/>
          <p:nvPr/>
        </p:nvSpPr>
        <p:spPr>
          <a:xfrm>
            <a:off x="914400" y="868680"/>
            <a:ext cx="10058400" cy="365760"/>
          </a:xfrm>
          <a:prstGeom prst="rect">
            <a:avLst/>
          </a:prstGeom>
          <a:noFill/>
          <a:ln/>
        </p:spPr>
        <p:txBody>
          <a:bodyPr wrap="square" lIns="0" tIns="0" rIns="0" bIns="0" rtlCol="0" anchor="ctr"/>
          <a:lstStyle/>
          <a:p>
            <a:pPr indent="0" marL="0">
              <a:buNone/>
            </a:pPr>
            <a:r>
              <a:rPr lang="en-US" sz="1400" b="1" spc="300" kern="0" dirty="0">
                <a:solidFill>
                  <a:srgbClr val="0FB5A8"/>
                </a:solidFill>
                <a:latin typeface="Calibri" pitchFamily="34" charset="0"/>
                <a:ea typeface="Calibri" pitchFamily="34" charset="-122"/>
                <a:cs typeface="Calibri" pitchFamily="34" charset="-120"/>
              </a:rPr>
              <a:t>CONCLUSION</a:t>
            </a:r>
            <a:endParaRPr lang="en-US" sz="1400" dirty="0"/>
          </a:p>
        </p:txBody>
      </p:sp>
      <p:sp>
        <p:nvSpPr>
          <p:cNvPr id="4" name="Text 2"/>
          <p:cNvSpPr/>
          <p:nvPr/>
        </p:nvSpPr>
        <p:spPr>
          <a:xfrm>
            <a:off x="914400" y="1280160"/>
            <a:ext cx="10332720" cy="1371600"/>
          </a:xfrm>
          <a:prstGeom prst="rect">
            <a:avLst/>
          </a:prstGeom>
          <a:noFill/>
          <a:ln/>
        </p:spPr>
        <p:txBody>
          <a:bodyPr wrap="square" lIns="0" tIns="0" rIns="0" bIns="0" rtlCol="0" anchor="ctr"/>
          <a:lstStyle/>
          <a:p>
            <a:pPr indent="0" marL="0">
              <a:buNone/>
            </a:pPr>
            <a:r>
              <a:rPr lang="en-US" sz="3300" b="1" dirty="0">
                <a:solidFill>
                  <a:srgbClr val="FFFFFF"/>
                </a:solidFill>
                <a:latin typeface="Georgia" pitchFamily="34" charset="0"/>
                <a:ea typeface="Georgia" pitchFamily="34" charset="-122"/>
                <a:cs typeface="Georgia" pitchFamily="34" charset="-120"/>
              </a:rPr>
              <a:t>Pre-train once, predict anything —</a:t>
            </a:r>
            <a:endParaRPr lang="en-US" sz="3300" dirty="0"/>
          </a:p>
          <a:p>
            <a:pPr indent="0" marL="0">
              <a:buNone/>
            </a:pPr>
            <a:r>
              <a:rPr lang="en-US" sz="3300" b="1" dirty="0">
                <a:solidFill>
                  <a:srgbClr val="FFFFFF"/>
                </a:solidFill>
                <a:latin typeface="Georgia" pitchFamily="34" charset="0"/>
                <a:ea typeface="Georgia" pitchFamily="34" charset="-122"/>
                <a:cs typeface="Georgia" pitchFamily="34" charset="-120"/>
              </a:rPr>
              <a:t>finally, for time series too.</a:t>
            </a:r>
            <a:endParaRPr lang="en-US" sz="3300" dirty="0"/>
          </a:p>
        </p:txBody>
      </p:sp>
      <p:sp>
        <p:nvSpPr>
          <p:cNvPr id="5" name="Shape 3"/>
          <p:cNvSpPr/>
          <p:nvPr/>
        </p:nvSpPr>
        <p:spPr>
          <a:xfrm>
            <a:off x="914400" y="2834640"/>
            <a:ext cx="146304" cy="146304"/>
          </a:xfrm>
          <a:prstGeom prst="rect">
            <a:avLst/>
          </a:prstGeom>
          <a:solidFill>
            <a:srgbClr val="0FB5A8"/>
          </a:solidFill>
          <a:ln/>
        </p:spPr>
      </p:sp>
      <p:sp>
        <p:nvSpPr>
          <p:cNvPr id="6" name="Text 4"/>
          <p:cNvSpPr/>
          <p:nvPr/>
        </p:nvSpPr>
        <p:spPr>
          <a:xfrm>
            <a:off x="1234440" y="2715768"/>
            <a:ext cx="10058400" cy="822960"/>
          </a:xfrm>
          <a:prstGeom prst="rect">
            <a:avLst/>
          </a:prstGeom>
          <a:noFill/>
          <a:ln/>
        </p:spPr>
        <p:txBody>
          <a:bodyPr wrap="square" lIns="0" tIns="0" rIns="0" bIns="0" rtlCol="0" anchor="ctr"/>
          <a:lstStyle/>
          <a:p>
            <a:pPr indent="0" marL="0">
              <a:buNone/>
            </a:pPr>
            <a:r>
              <a:rPr lang="en-US" sz="1500" b="1" dirty="0">
                <a:solidFill>
                  <a:srgbClr val="0FB5A8"/>
                </a:solidFill>
                <a:latin typeface="Calibri" pitchFamily="34" charset="0"/>
                <a:ea typeface="Calibri" pitchFamily="34" charset="-122"/>
                <a:cs typeface="Calibri" pitchFamily="34" charset="-120"/>
              </a:rPr>
              <a:t>The map  —  </a:t>
            </a:r>
            <a:pPr indent="0" marL="0">
              <a:buNone/>
            </a:pPr>
            <a:r>
              <a:rPr lang="en-US" sz="1500" dirty="0">
                <a:solidFill>
                  <a:srgbClr val="FFFFFF"/>
                </a:solidFill>
                <a:latin typeface="Calibri" pitchFamily="34" charset="0"/>
                <a:ea typeface="Calibri" pitchFamily="34" charset="-122"/>
                <a:cs typeface="Calibri" pitchFamily="34" charset="-120"/>
              </a:rPr>
              <a:t>Three pathways, four design challenges, three architecture families — ~100 models in two years.</a:t>
            </a:r>
            <a:endParaRPr lang="en-US" sz="1500" dirty="0"/>
          </a:p>
        </p:txBody>
      </p:sp>
      <p:sp>
        <p:nvSpPr>
          <p:cNvPr id="7" name="Shape 5"/>
          <p:cNvSpPr/>
          <p:nvPr/>
        </p:nvSpPr>
        <p:spPr>
          <a:xfrm>
            <a:off x="914400" y="3886200"/>
            <a:ext cx="146304" cy="146304"/>
          </a:xfrm>
          <a:prstGeom prst="rect">
            <a:avLst/>
          </a:prstGeom>
          <a:solidFill>
            <a:srgbClr val="0FB5A8"/>
          </a:solidFill>
          <a:ln/>
        </p:spPr>
      </p:sp>
      <p:sp>
        <p:nvSpPr>
          <p:cNvPr id="8" name="Text 6"/>
          <p:cNvSpPr/>
          <p:nvPr/>
        </p:nvSpPr>
        <p:spPr>
          <a:xfrm>
            <a:off x="1234440" y="3767328"/>
            <a:ext cx="10058400" cy="822960"/>
          </a:xfrm>
          <a:prstGeom prst="rect">
            <a:avLst/>
          </a:prstGeom>
          <a:noFill/>
          <a:ln/>
        </p:spPr>
        <p:txBody>
          <a:bodyPr wrap="square" lIns="0" tIns="0" rIns="0" bIns="0" rtlCol="0" anchor="ctr"/>
          <a:lstStyle/>
          <a:p>
            <a:pPr indent="0" marL="0">
              <a:buNone/>
            </a:pPr>
            <a:r>
              <a:rPr lang="en-US" sz="1500" b="1" dirty="0">
                <a:solidFill>
                  <a:srgbClr val="0FB5A8"/>
                </a:solidFill>
                <a:latin typeface="Calibri" pitchFamily="34" charset="0"/>
                <a:ea typeface="Calibri" pitchFamily="34" charset="-122"/>
                <a:cs typeface="Calibri" pitchFamily="34" charset="-120"/>
              </a:rPr>
              <a:t>The proof  —  </a:t>
            </a:r>
            <a:pPr indent="0" marL="0">
              <a:buNone/>
            </a:pPr>
            <a:r>
              <a:rPr lang="en-US" sz="1500" dirty="0">
                <a:solidFill>
                  <a:srgbClr val="FFFFFF"/>
                </a:solidFill>
                <a:latin typeface="Calibri" pitchFamily="34" charset="0"/>
                <a:ea typeface="Calibri" pitchFamily="34" charset="-122"/>
                <a:cs typeface="Calibri" pitchFamily="34" charset="-120"/>
              </a:rPr>
              <a:t>My reproduction confirmed the core claim: a zero-shot foundation model matched models tuned per series.</a:t>
            </a:r>
            <a:endParaRPr lang="en-US" sz="1500" dirty="0"/>
          </a:p>
        </p:txBody>
      </p:sp>
      <p:sp>
        <p:nvSpPr>
          <p:cNvPr id="9" name="Shape 7"/>
          <p:cNvSpPr/>
          <p:nvPr/>
        </p:nvSpPr>
        <p:spPr>
          <a:xfrm>
            <a:off x="914400" y="4937760"/>
            <a:ext cx="146304" cy="146304"/>
          </a:xfrm>
          <a:prstGeom prst="rect">
            <a:avLst/>
          </a:prstGeom>
          <a:solidFill>
            <a:srgbClr val="0FB5A8"/>
          </a:solidFill>
          <a:ln/>
        </p:spPr>
      </p:sp>
      <p:sp>
        <p:nvSpPr>
          <p:cNvPr id="10" name="Text 8"/>
          <p:cNvSpPr/>
          <p:nvPr/>
        </p:nvSpPr>
        <p:spPr>
          <a:xfrm>
            <a:off x="1234440" y="4818888"/>
            <a:ext cx="10058400" cy="822960"/>
          </a:xfrm>
          <a:prstGeom prst="rect">
            <a:avLst/>
          </a:prstGeom>
          <a:noFill/>
          <a:ln/>
        </p:spPr>
        <p:txBody>
          <a:bodyPr wrap="square" lIns="0" tIns="0" rIns="0" bIns="0" rtlCol="0" anchor="ctr"/>
          <a:lstStyle/>
          <a:p>
            <a:pPr indent="0" marL="0">
              <a:buNone/>
            </a:pPr>
            <a:r>
              <a:rPr lang="en-US" sz="1500" b="1" dirty="0">
                <a:solidFill>
                  <a:srgbClr val="0FB5A8"/>
                </a:solidFill>
                <a:latin typeface="Calibri" pitchFamily="34" charset="0"/>
                <a:ea typeface="Calibri" pitchFamily="34" charset="-122"/>
                <a:cs typeface="Calibri" pitchFamily="34" charset="-120"/>
              </a:rPr>
              <a:t>The open problem  —  </a:t>
            </a:r>
            <a:pPr indent="0" marL="0">
              <a:buNone/>
            </a:pPr>
            <a:r>
              <a:rPr lang="en-US" sz="1500" dirty="0">
                <a:solidFill>
                  <a:srgbClr val="FFFFFF"/>
                </a:solidFill>
                <a:latin typeface="Calibri" pitchFamily="34" charset="0"/>
                <a:ea typeface="Calibri" pitchFamily="34" charset="-122"/>
                <a:cs typeface="Calibri" pitchFamily="34" charset="-120"/>
              </a:rPr>
              <a:t>Trustworthy evaluation. Until benchmarks are contamination-proof, every impressive number deserves a second look.</a:t>
            </a:r>
            <a:endParaRPr lang="en-US" sz="1500" dirty="0"/>
          </a:p>
        </p:txBody>
      </p:sp>
      <p:sp>
        <p:nvSpPr>
          <p:cNvPr id="11" name="Text 9"/>
          <p:cNvSpPr/>
          <p:nvPr/>
        </p:nvSpPr>
        <p:spPr>
          <a:xfrm>
            <a:off x="914400" y="5989320"/>
            <a:ext cx="10332720" cy="457200"/>
          </a:xfrm>
          <a:prstGeom prst="rect">
            <a:avLst/>
          </a:prstGeom>
          <a:noFill/>
          <a:ln/>
        </p:spPr>
        <p:txBody>
          <a:bodyPr wrap="square" lIns="0" tIns="0" rIns="0" bIns="0" rtlCol="0" anchor="ctr"/>
          <a:lstStyle/>
          <a:p>
            <a:pPr indent="0" marL="0">
              <a:buNone/>
            </a:pPr>
            <a:r>
              <a:rPr lang="en-US" sz="1600" i="1" dirty="0">
                <a:solidFill>
                  <a:srgbClr val="CADCFC"/>
                </a:solidFill>
                <a:latin typeface="Georgia" pitchFamily="34" charset="0"/>
                <a:ea typeface="Georgia" pitchFamily="34" charset="-122"/>
                <a:cs typeface="Georgia" pitchFamily="34" charset="-120"/>
              </a:rPr>
              <a:t>The work that remains is making sure we can believe the predictions.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FB5A8"/>
          </a:solidFill>
          <a:ln/>
        </p:spPr>
      </p:sp>
      <p:sp>
        <p:nvSpPr>
          <p:cNvPr id="3" name="Text 1"/>
          <p:cNvSpPr/>
          <p:nvPr/>
        </p:nvSpPr>
        <p:spPr>
          <a:xfrm>
            <a:off x="868680" y="640080"/>
            <a:ext cx="10058400" cy="640080"/>
          </a:xfrm>
          <a:prstGeom prst="rect">
            <a:avLst/>
          </a:prstGeom>
          <a:noFill/>
          <a:ln/>
        </p:spPr>
        <p:txBody>
          <a:bodyPr wrap="square" lIns="0" tIns="0" rIns="0" bIns="0" rtlCol="0" anchor="ctr"/>
          <a:lstStyle/>
          <a:p>
            <a:pPr indent="0" marL="0">
              <a:buNone/>
            </a:pPr>
            <a:r>
              <a:rPr lang="en-US" sz="3000" b="1" dirty="0">
                <a:solidFill>
                  <a:srgbClr val="0B2545"/>
                </a:solidFill>
                <a:latin typeface="Georgia" pitchFamily="34" charset="0"/>
                <a:ea typeface="Georgia" pitchFamily="34" charset="-122"/>
                <a:cs typeface="Georgia" pitchFamily="34" charset="-120"/>
              </a:rPr>
              <a:t>References &amp; Links</a:t>
            </a:r>
            <a:endParaRPr lang="en-US" sz="3000" dirty="0"/>
          </a:p>
        </p:txBody>
      </p:sp>
      <p:sp>
        <p:nvSpPr>
          <p:cNvPr id="4" name="Text 2"/>
          <p:cNvSpPr/>
          <p:nvPr/>
        </p:nvSpPr>
        <p:spPr>
          <a:xfrm>
            <a:off x="868680" y="1463040"/>
            <a:ext cx="10607040" cy="2468880"/>
          </a:xfrm>
          <a:prstGeom prst="rect">
            <a:avLst/>
          </a:prstGeom>
          <a:noFill/>
          <a:ln/>
        </p:spPr>
        <p:txBody>
          <a:bodyPr wrap="square" lIns="0" tIns="0" rIns="0" bIns="0" rtlCol="0" anchor="ctr"/>
          <a:lstStyle/>
          <a:p>
            <a:pPr indent="0" marL="0">
              <a:spcAft>
                <a:spcPts val="900"/>
              </a:spcAft>
              <a:buNone/>
            </a:pPr>
            <a:r>
              <a:rPr lang="en-US" sz="1250" dirty="0">
                <a:solidFill>
                  <a:srgbClr val="1B2A3A"/>
                </a:solidFill>
                <a:latin typeface="Calibri" pitchFamily="34" charset="0"/>
                <a:ea typeface="Calibri" pitchFamily="34" charset="-122"/>
                <a:cs typeface="Calibri" pitchFamily="34" charset="-120"/>
              </a:rPr>
              <a:t>1.  Ye, Yu, Zhang, Wang, Li, Tsung. “Empowering Time Series Analysis with Foundation Models: A Comprehensive Survey.” arXiv:2405.02358v3, 2025.  (primary paper reviewed)</a:t>
            </a:r>
            <a:endParaRPr lang="en-US" sz="1250" dirty="0"/>
          </a:p>
          <a:p>
            <a:pPr indent="0" marL="0">
              <a:spcAft>
                <a:spcPts val="900"/>
              </a:spcAft>
              <a:buNone/>
            </a:pPr>
            <a:r>
              <a:rPr lang="en-US" sz="1250" dirty="0">
                <a:solidFill>
                  <a:srgbClr val="1B2A3A"/>
                </a:solidFill>
                <a:latin typeface="Calibri" pitchFamily="34" charset="0"/>
                <a:ea typeface="Calibri" pitchFamily="34" charset="-122"/>
                <a:cs typeface="Calibri" pitchFamily="34" charset="-120"/>
              </a:rPr>
              <a:t>2.  Kottapalli et al. “Foundation Models for Time Series: A Survey.” arXiv:2504.04011, 2025.</a:t>
            </a:r>
            <a:endParaRPr lang="en-US" sz="1250" dirty="0"/>
          </a:p>
          <a:p>
            <a:pPr indent="0" marL="0">
              <a:spcAft>
                <a:spcPts val="900"/>
              </a:spcAft>
              <a:buNone/>
            </a:pPr>
            <a:r>
              <a:rPr lang="en-US" sz="1250" dirty="0">
                <a:solidFill>
                  <a:srgbClr val="1B2A3A"/>
                </a:solidFill>
                <a:latin typeface="Calibri" pitchFamily="34" charset="0"/>
                <a:ea typeface="Calibri" pitchFamily="34" charset="-122"/>
                <a:cs typeface="Calibri" pitchFamily="34" charset="-120"/>
              </a:rPr>
              <a:t>3.  Meyer, Kaltenpoth, Zalipski, Müller. “Rethinking Evaluation in the Era of Time Series Foundation Models: (Un)Known Information Leakage Challenges.” arXiv:2510.13654, 2025.</a:t>
            </a:r>
            <a:endParaRPr lang="en-US" sz="1250" dirty="0"/>
          </a:p>
          <a:p>
            <a:pPr indent="0" marL="0">
              <a:spcAft>
                <a:spcPts val="900"/>
              </a:spcAft>
              <a:buNone/>
            </a:pPr>
            <a:r>
              <a:rPr lang="en-US" sz="1250" dirty="0">
                <a:solidFill>
                  <a:srgbClr val="1B2A3A"/>
                </a:solidFill>
                <a:latin typeface="Calibri" pitchFamily="34" charset="0"/>
                <a:ea typeface="Calibri" pitchFamily="34" charset="-122"/>
                <a:cs typeface="Calibri" pitchFamily="34" charset="-120"/>
              </a:rPr>
              <a:t>4.  Ansari et al. “Chronos: Learning the Language of Time Series.” TMLR, 2024.</a:t>
            </a:r>
            <a:endParaRPr lang="en-US" sz="1250" dirty="0"/>
          </a:p>
          <a:p>
            <a:pPr indent="0" marL="0">
              <a:spcAft>
                <a:spcPts val="900"/>
              </a:spcAft>
              <a:buNone/>
            </a:pPr>
            <a:r>
              <a:rPr lang="en-US" sz="1250" dirty="0">
                <a:solidFill>
                  <a:srgbClr val="1B2A3A"/>
                </a:solidFill>
                <a:latin typeface="Calibri" pitchFamily="34" charset="0"/>
                <a:ea typeface="Calibri" pitchFamily="34" charset="-122"/>
                <a:cs typeface="Calibri" pitchFamily="34" charset="-120"/>
              </a:rPr>
              <a:t>5.  Das, Kong, Sen, Zhou. “A Decoder-Only Foundation Model for Time-Series Forecasting” (TimesFM). ICML, 2024.</a:t>
            </a:r>
            <a:endParaRPr lang="en-US" sz="1250" dirty="0"/>
          </a:p>
        </p:txBody>
      </p:sp>
      <p:sp>
        <p:nvSpPr>
          <p:cNvPr id="5" name="Shape 3"/>
          <p:cNvSpPr/>
          <p:nvPr/>
        </p:nvSpPr>
        <p:spPr>
          <a:xfrm>
            <a:off x="868680" y="4114800"/>
            <a:ext cx="10515600" cy="1371600"/>
          </a:xfrm>
          <a:prstGeom prst="roundRect">
            <a:avLst>
              <a:gd name="adj" fmla="val 4000"/>
            </a:avLst>
          </a:prstGeom>
          <a:solidFill>
            <a:srgbClr val="0B2545"/>
          </a:solidFill>
          <a:ln w="12700">
            <a:solidFill>
              <a:srgbClr val="E1E7EE"/>
            </a:solidFill>
            <a:prstDash val="solid"/>
          </a:ln>
          <a:effectLst>
            <a:outerShdw sx="100000" sy="100000" kx="0" ky="0" algn="bl" rotWithShape="0" blurRad="88900" dist="38100" dir="8100000">
              <a:srgbClr val="9AA7B4">
                <a:alpha val="22000"/>
              </a:srgbClr>
            </a:outerShdw>
          </a:effectLst>
        </p:spPr>
      </p:sp>
      <p:sp>
        <p:nvSpPr>
          <p:cNvPr id="6" name="Text 4"/>
          <p:cNvSpPr/>
          <p:nvPr/>
        </p:nvSpPr>
        <p:spPr>
          <a:xfrm>
            <a:off x="1143000" y="4297680"/>
            <a:ext cx="9966960" cy="365760"/>
          </a:xfrm>
          <a:prstGeom prst="rect">
            <a:avLst/>
          </a:prstGeom>
          <a:noFill/>
          <a:ln/>
        </p:spPr>
        <p:txBody>
          <a:bodyPr wrap="square" lIns="0" tIns="0" rIns="0" bIns="0" rtlCol="0" anchor="ctr"/>
          <a:lstStyle/>
          <a:p>
            <a:pPr indent="0" marL="0">
              <a:buNone/>
            </a:pPr>
            <a:r>
              <a:rPr lang="en-US" sz="1300" b="1" dirty="0">
                <a:solidFill>
                  <a:srgbClr val="0FB5A8"/>
                </a:solidFill>
                <a:latin typeface="Calibri" pitchFamily="34" charset="0"/>
                <a:ea typeface="Calibri" pitchFamily="34" charset="-122"/>
                <a:cs typeface="Calibri" pitchFamily="34" charset="-120"/>
              </a:rPr>
              <a:t>GitHub repository — code, executed notebook, article, slides &amp; video</a:t>
            </a:r>
            <a:endParaRPr lang="en-US" sz="1300" dirty="0"/>
          </a:p>
        </p:txBody>
      </p:sp>
      <p:sp>
        <p:nvSpPr>
          <p:cNvPr id="7" name="Text 5"/>
          <p:cNvSpPr/>
          <p:nvPr/>
        </p:nvSpPr>
        <p:spPr>
          <a:xfrm>
            <a:off x="1143000" y="4663440"/>
            <a:ext cx="9966960" cy="411480"/>
          </a:xfrm>
          <a:prstGeom prst="rect">
            <a:avLst/>
          </a:prstGeom>
          <a:noFill/>
          <a:ln/>
        </p:spPr>
        <p:txBody>
          <a:bodyPr wrap="square" lIns="0" tIns="0" rIns="0" bIns="0" rtlCol="0" anchor="ctr"/>
          <a:lstStyle/>
          <a:p>
            <a:pPr indent="0" marL="0">
              <a:buNone/>
            </a:pPr>
            <a:r>
              <a:rPr lang="en-US" sz="1500" b="1" dirty="0">
                <a:solidFill>
                  <a:srgbClr val="FFFFFF"/>
                </a:solidFill>
                <a:latin typeface="Consolas" pitchFamily="34" charset="0"/>
                <a:ea typeface="Consolas" pitchFamily="34" charset="-122"/>
                <a:cs typeface="Consolas" pitchFamily="34" charset="-120"/>
              </a:rPr>
              <a:t>github.com/NMemane1/CMPE258-Short-Story-TS-FM-DeepLearning</a:t>
            </a:r>
            <a:endParaRPr lang="en-US" sz="1500" dirty="0"/>
          </a:p>
        </p:txBody>
      </p:sp>
      <p:sp>
        <p:nvSpPr>
          <p:cNvPr id="8" name="Text 6"/>
          <p:cNvSpPr/>
          <p:nvPr/>
        </p:nvSpPr>
        <p:spPr>
          <a:xfrm>
            <a:off x="1143000" y="5029200"/>
            <a:ext cx="9966960" cy="365760"/>
          </a:xfrm>
          <a:prstGeom prst="rect">
            <a:avLst/>
          </a:prstGeom>
          <a:noFill/>
          <a:ln/>
        </p:spPr>
        <p:txBody>
          <a:bodyPr wrap="square" lIns="0" tIns="0" rIns="0" bIns="0" rtlCol="0" anchor="ctr"/>
          <a:lstStyle/>
          <a:p>
            <a:pPr indent="0" marL="0">
              <a:buNone/>
            </a:pPr>
            <a:r>
              <a:rPr lang="en-US" sz="1150" dirty="0">
                <a:solidFill>
                  <a:srgbClr val="9DB2C9"/>
                </a:solidFill>
                <a:latin typeface="Calibri" pitchFamily="34" charset="0"/>
                <a:ea typeface="Calibri" pitchFamily="34" charset="-122"/>
                <a:cs typeface="Calibri" pitchFamily="34" charset="-120"/>
              </a:rPr>
              <a:t>Medium article + reproduction figures linked in the repository README.</a:t>
            </a:r>
            <a:endParaRPr lang="en-US" sz="1150" dirty="0"/>
          </a:p>
        </p:txBody>
      </p:sp>
      <p:sp>
        <p:nvSpPr>
          <p:cNvPr id="9" name="Text 7"/>
          <p:cNvSpPr/>
          <p:nvPr/>
        </p:nvSpPr>
        <p:spPr>
          <a:xfrm>
            <a:off x="868680" y="5806440"/>
            <a:ext cx="10515600" cy="457200"/>
          </a:xfrm>
          <a:prstGeom prst="rect">
            <a:avLst/>
          </a:prstGeom>
          <a:noFill/>
          <a:ln/>
        </p:spPr>
        <p:txBody>
          <a:bodyPr wrap="square" lIns="0" tIns="0" rIns="0" bIns="0" rtlCol="0" anchor="ctr"/>
          <a:lstStyle/>
          <a:p>
            <a:pPr indent="0" marL="0">
              <a:buNone/>
            </a:pPr>
            <a:r>
              <a:rPr lang="en-US" sz="1500" b="1" dirty="0">
                <a:solidFill>
                  <a:srgbClr val="0B2545"/>
                </a:solidFill>
                <a:latin typeface="Georgia" pitchFamily="34" charset="0"/>
                <a:ea typeface="Georgia" pitchFamily="34" charset="-122"/>
                <a:cs typeface="Georgia" pitchFamily="34" charset="-120"/>
              </a:rPr>
              <a:t>Thank you  —  Nikita Memane  ·  CMPE 258, San José State University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Time-Series Foundation Models — Short Story</dc:title>
  <dc:subject>PptxGenJS Presentation</dc:subject>
  <dc:creator>Nikita Memane</dc:creator>
  <cp:lastModifiedBy>Nikita Memane</cp:lastModifiedBy>
  <cp:revision>1</cp:revision>
  <dcterms:created xsi:type="dcterms:W3CDTF">2026-05-16T03:38:06Z</dcterms:created>
  <dcterms:modified xsi:type="dcterms:W3CDTF">2026-05-16T03:38:06Z</dcterms:modified>
</cp:coreProperties>
</file>